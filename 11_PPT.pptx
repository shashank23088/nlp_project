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Quattrocento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QuattrocentoSans-italic.fntdata"/><Relationship Id="rId21" Type="http://schemas.openxmlformats.org/officeDocument/2006/relationships/font" Target="fonts/Quattrocento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QuattrocentoSans-bold.fntdata"/><Relationship Id="rId18" Type="http://schemas.openxmlformats.org/officeDocument/2006/relationships/font" Target="fonts/Quattrocento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c8edceef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4c8edceef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c8edceefc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4c8edceefc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c8edceef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4c8edceef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4c9d4e94ae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4c9d4e94ae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c8edceefc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4c8edceefc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c8edceefc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4c8edceef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c8edceefc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4c8edceefc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c9d4e94ae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4c9d4e94ae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4c9d4e94ae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4c9d4e94ae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4c9f3f0424_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4c9f3f0424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EADA7"/>
        </a:solidFill>
      </p:bgPr>
    </p:bg>
    <p:spTree>
      <p:nvGrpSpPr>
        <p:cNvPr id="11" name="Shape 11"/>
        <p:cNvGrpSpPr/>
        <p:nvPr/>
      </p:nvGrpSpPr>
      <p:grpSpPr>
        <a:xfrm>
          <a:off x="0" y="0"/>
          <a:ext cx="0" cy="0"/>
          <a:chOff x="0" y="0"/>
          <a:chExt cx="0" cy="0"/>
        </a:xfrm>
      </p:grpSpPr>
      <p:pic>
        <p:nvPicPr>
          <p:cNvPr descr="IIITD_pptslide_jpeg-03.jpg" id="12" name="Google Shape;12;p2"/>
          <p:cNvPicPr preferRelativeResize="0"/>
          <p:nvPr/>
        </p:nvPicPr>
        <p:blipFill rotWithShape="1">
          <a:blip r:embed="rId2">
            <a:alphaModFix/>
          </a:blip>
          <a:srcRect b="0" l="72917" r="0" t="69259"/>
          <a:stretch/>
        </p:blipFill>
        <p:spPr>
          <a:xfrm>
            <a:off x="9715500" y="4749800"/>
            <a:ext cx="2476500" cy="2108200"/>
          </a:xfrm>
          <a:prstGeom prst="rect">
            <a:avLst/>
          </a:prstGeom>
          <a:noFill/>
          <a:ln>
            <a:noFill/>
          </a:ln>
        </p:spPr>
      </p:pic>
      <p:sp>
        <p:nvSpPr>
          <p:cNvPr id="13" name="Google Shape;13;p2"/>
          <p:cNvSpPr txBox="1"/>
          <p:nvPr>
            <p:ph type="ctrTitle"/>
          </p:nvPr>
        </p:nvSpPr>
        <p:spPr>
          <a:xfrm>
            <a:off x="1524000" y="1063671"/>
            <a:ext cx="9753600" cy="1875008"/>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subTitle"/>
          </p:nvPr>
        </p:nvSpPr>
        <p:spPr>
          <a:xfrm>
            <a:off x="5486400" y="3240578"/>
            <a:ext cx="5791200" cy="2042622"/>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rgbClr val="E9F7F6"/>
              </a:buClr>
              <a:buSzPts val="2400"/>
              <a:buNone/>
              <a:defRPr sz="2400">
                <a:solidFill>
                  <a:srgbClr val="E9F7F6"/>
                </a:solidFill>
              </a:defRPr>
            </a:lvl1pPr>
            <a:lvl2pPr lvl="1" algn="ctr">
              <a:lnSpc>
                <a:spcPct val="90000"/>
              </a:lnSpc>
              <a:spcBef>
                <a:spcPts val="500"/>
              </a:spcBef>
              <a:spcAft>
                <a:spcPts val="0"/>
              </a:spcAft>
              <a:buClr>
                <a:schemeClr val="dk1"/>
              </a:buClr>
              <a:buSzPts val="2800"/>
              <a:buNone/>
              <a:defRPr sz="2800"/>
            </a:lvl2pPr>
            <a:lvl3pPr lvl="2" algn="ctr">
              <a:lnSpc>
                <a:spcPct val="90000"/>
              </a:lnSpc>
              <a:spcBef>
                <a:spcPts val="500"/>
              </a:spcBef>
              <a:spcAft>
                <a:spcPts val="0"/>
              </a:spcAft>
              <a:buClr>
                <a:schemeClr val="dk1"/>
              </a:buClr>
              <a:buSzPts val="2400"/>
              <a:buNone/>
              <a:defRPr sz="2400"/>
            </a:lvl3pPr>
            <a:lvl4pPr lvl="3" algn="ctr">
              <a:lnSpc>
                <a:spcPct val="90000"/>
              </a:lnSpc>
              <a:spcBef>
                <a:spcPts val="500"/>
              </a:spcBef>
              <a:spcAft>
                <a:spcPts val="0"/>
              </a:spcAft>
              <a:buClr>
                <a:schemeClr val="dk1"/>
              </a:buClr>
              <a:buSzPts val="2000"/>
              <a:buNone/>
              <a:defRPr sz="2000"/>
            </a:lvl4pPr>
            <a:lvl5pPr lvl="4" algn="ctr">
              <a:lnSpc>
                <a:spcPct val="90000"/>
              </a:lnSpc>
              <a:spcBef>
                <a:spcPts val="500"/>
              </a:spcBef>
              <a:spcAft>
                <a:spcPts val="0"/>
              </a:spcAft>
              <a:buClr>
                <a:schemeClr val="dk1"/>
              </a:buClr>
              <a:buSzPts val="2000"/>
              <a:buNone/>
              <a:defRPr sz="2000"/>
            </a:lvl5pPr>
            <a:lvl6pPr lvl="5" algn="ctr">
              <a:lnSpc>
                <a:spcPct val="100000"/>
              </a:lnSpc>
              <a:spcBef>
                <a:spcPts val="400"/>
              </a:spcBef>
              <a:spcAft>
                <a:spcPts val="0"/>
              </a:spcAft>
              <a:buClr>
                <a:schemeClr val="dk1"/>
              </a:buClr>
              <a:buSzPts val="2000"/>
              <a:buNone/>
              <a:defRPr sz="2000"/>
            </a:lvl6pPr>
            <a:lvl7pPr lvl="6" algn="ctr">
              <a:lnSpc>
                <a:spcPct val="100000"/>
              </a:lnSpc>
              <a:spcBef>
                <a:spcPts val="400"/>
              </a:spcBef>
              <a:spcAft>
                <a:spcPts val="0"/>
              </a:spcAft>
              <a:buClr>
                <a:schemeClr val="dk1"/>
              </a:buClr>
              <a:buSzPts val="2000"/>
              <a:buNone/>
              <a:defRPr sz="2000"/>
            </a:lvl7pPr>
            <a:lvl8pPr lvl="7" algn="ctr">
              <a:lnSpc>
                <a:spcPct val="100000"/>
              </a:lnSpc>
              <a:spcBef>
                <a:spcPts val="400"/>
              </a:spcBef>
              <a:spcAft>
                <a:spcPts val="0"/>
              </a:spcAft>
              <a:buClr>
                <a:schemeClr val="dk1"/>
              </a:buClr>
              <a:buSzPts val="2000"/>
              <a:buNone/>
              <a:defRPr sz="2000"/>
            </a:lvl8pPr>
            <a:lvl9pPr lvl="8" algn="ctr">
              <a:lnSpc>
                <a:spcPct val="100000"/>
              </a:lnSpc>
              <a:spcBef>
                <a:spcPts val="400"/>
              </a:spcBef>
              <a:spcAft>
                <a:spcPts val="0"/>
              </a:spcAft>
              <a:buClr>
                <a:schemeClr val="dk1"/>
              </a:buClr>
              <a:buSzPts val="2000"/>
              <a:buNone/>
              <a:defRPr sz="2000"/>
            </a:lvl9pPr>
          </a:lstStyle>
          <a:p/>
        </p:txBody>
      </p:sp>
      <p:sp>
        <p:nvSpPr>
          <p:cNvPr id="15" name="Google Shape;15;p2"/>
          <p:cNvSpPr txBox="1"/>
          <p:nvPr>
            <p:ph idx="10" type="dt"/>
          </p:nvPr>
        </p:nvSpPr>
        <p:spPr>
          <a:xfrm>
            <a:off x="54864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cxnSp>
        <p:nvCxnSpPr>
          <p:cNvPr id="17" name="Google Shape;17;p2"/>
          <p:cNvCxnSpPr/>
          <p:nvPr/>
        </p:nvCxnSpPr>
        <p:spPr>
          <a:xfrm>
            <a:off x="914400" y="3089628"/>
            <a:ext cx="10363200" cy="0"/>
          </a:xfrm>
          <a:prstGeom prst="straightConnector1">
            <a:avLst/>
          </a:prstGeom>
          <a:noFill/>
          <a:ln cap="flat" cmpd="sng" w="9525">
            <a:solidFill>
              <a:schemeClr val="lt1"/>
            </a:solidFill>
            <a:prstDash val="solid"/>
            <a:round/>
            <a:headEnd len="sm" w="sm" type="none"/>
            <a:tailEnd len="sm" w="sm" type="none"/>
          </a:ln>
        </p:spPr>
      </p:cxnSp>
      <p:pic>
        <p:nvPicPr>
          <p:cNvPr id="18" name="Google Shape;18;p2"/>
          <p:cNvPicPr preferRelativeResize="0"/>
          <p:nvPr/>
        </p:nvPicPr>
        <p:blipFill rotWithShape="1">
          <a:blip r:embed="rId3">
            <a:alphaModFix/>
          </a:blip>
          <a:srcRect b="0" l="0" r="0" t="0"/>
          <a:stretch/>
        </p:blipFill>
        <p:spPr>
          <a:xfrm>
            <a:off x="914400" y="4534784"/>
            <a:ext cx="3014164" cy="165885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21" name="Google Shape;21;p3"/>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2900"/>
              <a:buFont typeface="Quattrocento Sans"/>
              <a:buNone/>
              <a:defRPr sz="2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 type="body"/>
          </p:nvPr>
        </p:nvSpPr>
        <p:spPr>
          <a:xfrm>
            <a:off x="845127" y="1381182"/>
            <a:ext cx="10515600" cy="479895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cxnSp>
        <p:nvCxnSpPr>
          <p:cNvPr id="26" name="Google Shape;26;p3"/>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27" name="Google Shape;27;p3"/>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30" name="Google Shape;30;p4"/>
          <p:cNvSpPr txBox="1"/>
          <p:nvPr>
            <p:ph type="title"/>
          </p:nvPr>
        </p:nvSpPr>
        <p:spPr>
          <a:xfrm>
            <a:off x="831850" y="1712423"/>
            <a:ext cx="105156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EADA7"/>
              </a:buClr>
              <a:buSzPts val="6000"/>
              <a:buFont typeface="Quattrocento Sans"/>
              <a:buNone/>
              <a:defRPr b="0"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831850" y="455263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400"/>
              <a:buNone/>
              <a:defRPr sz="2400">
                <a:solidFill>
                  <a:srgbClr val="3F3F3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pic>
        <p:nvPicPr>
          <p:cNvPr id="36" name="Google Shape;36;p5"/>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37" name="Google Shape;37;p5"/>
          <p:cNvSpPr txBox="1"/>
          <p:nvPr>
            <p:ph idx="1" type="body"/>
          </p:nvPr>
        </p:nvSpPr>
        <p:spPr>
          <a:xfrm>
            <a:off x="845127" y="1381182"/>
            <a:ext cx="5181600" cy="479895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 name="Google Shape;38;p5"/>
          <p:cNvSpPr txBox="1"/>
          <p:nvPr>
            <p:ph idx="2" type="body"/>
          </p:nvPr>
        </p:nvSpPr>
        <p:spPr>
          <a:xfrm>
            <a:off x="6172200" y="1381182"/>
            <a:ext cx="5181600" cy="479895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42" name="Google Shape;42;p5"/>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43" name="Google Shape;43;p5"/>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44" name="Google Shape;44;p5"/>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5" name="Shape 45"/>
        <p:cNvGrpSpPr/>
        <p:nvPr/>
      </p:nvGrpSpPr>
      <p:grpSpPr>
        <a:xfrm>
          <a:off x="0" y="0"/>
          <a:ext cx="0" cy="0"/>
          <a:chOff x="0" y="0"/>
          <a:chExt cx="0" cy="0"/>
        </a:xfrm>
      </p:grpSpPr>
      <p:pic>
        <p:nvPicPr>
          <p:cNvPr id="46" name="Google Shape;46;p6"/>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47" name="Google Shape;47;p6"/>
          <p:cNvSpPr txBox="1"/>
          <p:nvPr>
            <p:ph idx="1" type="body"/>
          </p:nvPr>
        </p:nvSpPr>
        <p:spPr>
          <a:xfrm>
            <a:off x="845127" y="1381181"/>
            <a:ext cx="5156200"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6"/>
          <p:cNvSpPr txBox="1"/>
          <p:nvPr>
            <p:ph idx="2" type="body"/>
          </p:nvPr>
        </p:nvSpPr>
        <p:spPr>
          <a:xfrm>
            <a:off x="845127" y="2206880"/>
            <a:ext cx="5156200" cy="398119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 name="Google Shape;49;p6"/>
          <p:cNvSpPr txBox="1"/>
          <p:nvPr>
            <p:ph idx="3" type="body"/>
          </p:nvPr>
        </p:nvSpPr>
        <p:spPr>
          <a:xfrm>
            <a:off x="6172200" y="1381182"/>
            <a:ext cx="5181601"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6"/>
          <p:cNvSpPr txBox="1"/>
          <p:nvPr>
            <p:ph idx="4" type="body"/>
          </p:nvPr>
        </p:nvSpPr>
        <p:spPr>
          <a:xfrm>
            <a:off x="6172200" y="2206880"/>
            <a:ext cx="5181601" cy="398119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1" name="Google Shape;5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54" name="Google Shape;54;p6"/>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5" name="Google Shape;55;p6"/>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56" name="Google Shape;56;p6"/>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7"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59" name="Google Shape;59;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62" name="Google Shape;62;p7"/>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63" name="Google Shape;63;p7"/>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64" name="Google Shape;64;p7"/>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pic>
        <p:nvPicPr>
          <p:cNvPr id="70" name="Google Shape;70;p9"/>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71" name="Google Shape;71;p9"/>
          <p:cNvSpPr txBox="1"/>
          <p:nvPr>
            <p:ph type="title"/>
          </p:nvPr>
        </p:nvSpPr>
        <p:spPr>
          <a:xfrm>
            <a:off x="841248" y="457200"/>
            <a:ext cx="393192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EADA7"/>
              </a:buClr>
              <a:buSzPts val="3200"/>
              <a:buFont typeface="Quattrocento Sans"/>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73" name="Google Shape;73;p9"/>
          <p:cNvSpPr txBox="1"/>
          <p:nvPr>
            <p:ph idx="2" type="body"/>
          </p:nvPr>
        </p:nvSpPr>
        <p:spPr>
          <a:xfrm>
            <a:off x="841248" y="2057399"/>
            <a:ext cx="393192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4" name="Google Shape;7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cxnSp>
        <p:nvCxnSpPr>
          <p:cNvPr id="77" name="Google Shape;77;p9"/>
          <p:cNvCxnSpPr/>
          <p:nvPr/>
        </p:nvCxnSpPr>
        <p:spPr>
          <a:xfrm>
            <a:off x="860600" y="2061029"/>
            <a:ext cx="3931920" cy="0"/>
          </a:xfrm>
          <a:prstGeom prst="straightConnector1">
            <a:avLst/>
          </a:prstGeom>
          <a:noFill/>
          <a:ln cap="flat" cmpd="sng" w="9525">
            <a:solidFill>
              <a:srgbClr val="3DACA7"/>
            </a:solidFill>
            <a:prstDash val="solid"/>
            <a:round/>
            <a:headEnd len="sm" w="sm" type="none"/>
            <a:tailEnd len="sm" w="sm" type="none"/>
          </a:ln>
        </p:spPr>
      </p:cxnSp>
      <p:pic>
        <p:nvPicPr>
          <p:cNvPr id="78" name="Google Shape;78;p9"/>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pic>
        <p:nvPicPr>
          <p:cNvPr id="80" name="Google Shape;80;p10"/>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81" name="Google Shape;81;p10"/>
          <p:cNvSpPr txBox="1"/>
          <p:nvPr>
            <p:ph type="title"/>
          </p:nvPr>
        </p:nvSpPr>
        <p:spPr>
          <a:xfrm>
            <a:off x="841248" y="457200"/>
            <a:ext cx="393192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EADA7"/>
              </a:buClr>
              <a:buSzPts val="3200"/>
              <a:buFont typeface="Quattrocento Sans"/>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0"/>
          <p:cNvSpPr/>
          <p:nvPr>
            <p:ph idx="2" type="pic"/>
          </p:nvPr>
        </p:nvSpPr>
        <p:spPr>
          <a:xfrm>
            <a:off x="5181600" y="990600"/>
            <a:ext cx="6172200" cy="4876800"/>
          </a:xfrm>
          <a:prstGeom prst="rect">
            <a:avLst/>
          </a:prstGeom>
          <a:noFill/>
          <a:ln>
            <a:noFill/>
          </a:ln>
        </p:spPr>
      </p:sp>
      <p:sp>
        <p:nvSpPr>
          <p:cNvPr id="83" name="Google Shape;83;p10"/>
          <p:cNvSpPr txBox="1"/>
          <p:nvPr>
            <p:ph idx="1" type="body"/>
          </p:nvPr>
        </p:nvSpPr>
        <p:spPr>
          <a:xfrm>
            <a:off x="841248" y="2057400"/>
            <a:ext cx="393192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4" name="Google Shape;8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cxnSp>
        <p:nvCxnSpPr>
          <p:cNvPr id="87" name="Google Shape;87;p10"/>
          <p:cNvCxnSpPr/>
          <p:nvPr/>
        </p:nvCxnSpPr>
        <p:spPr>
          <a:xfrm>
            <a:off x="860600" y="2061029"/>
            <a:ext cx="3931920" cy="0"/>
          </a:xfrm>
          <a:prstGeom prst="straightConnector1">
            <a:avLst/>
          </a:prstGeom>
          <a:noFill/>
          <a:ln cap="flat" cmpd="sng" w="9525">
            <a:solidFill>
              <a:srgbClr val="3DACA7"/>
            </a:solidFill>
            <a:prstDash val="solid"/>
            <a:round/>
            <a:headEnd len="sm" w="sm" type="none"/>
            <a:tailEnd len="sm" w="sm" type="none"/>
          </a:ln>
        </p:spPr>
      </p:cxnSp>
      <p:pic>
        <p:nvPicPr>
          <p:cNvPr id="88" name="Google Shape;88;p10"/>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89" name="Shape 89"/>
        <p:cNvGrpSpPr/>
        <p:nvPr/>
      </p:nvGrpSpPr>
      <p:grpSpPr>
        <a:xfrm>
          <a:off x="0" y="0"/>
          <a:ext cx="0" cy="0"/>
          <a:chOff x="0" y="0"/>
          <a:chExt cx="0" cy="0"/>
        </a:xfrm>
      </p:grpSpPr>
      <p:pic>
        <p:nvPicPr>
          <p:cNvPr id="90" name="Google Shape;90;p11"/>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91" name="Google Shape;91;p11"/>
          <p:cNvSpPr txBox="1"/>
          <p:nvPr>
            <p:ph idx="1" type="body"/>
          </p:nvPr>
        </p:nvSpPr>
        <p:spPr>
          <a:xfrm rot="5400000">
            <a:off x="3703449" y="-1477140"/>
            <a:ext cx="4798956"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 name="Google Shape;9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95" name="Google Shape;95;p11"/>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96" name="Google Shape;96;p11"/>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97" name="Google Shape;97;p11"/>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2"/>
          <p:cNvSpPr txBox="1"/>
          <p:nvPr>
            <p:ph type="title"/>
          </p:nvPr>
        </p:nvSpPr>
        <p:spPr>
          <a:xfrm rot="5400000">
            <a:off x="7133431" y="1951831"/>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 type="body"/>
          </p:nvPr>
        </p:nvSpPr>
        <p:spPr>
          <a:xfrm rot="5400000">
            <a:off x="1799431" y="-600869"/>
            <a:ext cx="5811837"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1" name="Google Shape;10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cxnSp>
        <p:nvCxnSpPr>
          <p:cNvPr id="104" name="Google Shape;104;p12"/>
          <p:cNvCxnSpPr/>
          <p:nvPr/>
        </p:nvCxnSpPr>
        <p:spPr>
          <a:xfrm>
            <a:off x="8724900" y="370119"/>
            <a:ext cx="0" cy="5806281"/>
          </a:xfrm>
          <a:prstGeom prst="straightConnector1">
            <a:avLst/>
          </a:prstGeom>
          <a:noFill/>
          <a:ln cap="flat" cmpd="sng" w="9525">
            <a:solidFill>
              <a:srgbClr val="3DACA7"/>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05" name="Shape 105"/>
        <p:cNvGrpSpPr/>
        <p:nvPr/>
      </p:nvGrpSpPr>
      <p:grpSpPr>
        <a:xfrm>
          <a:off x="0" y="0"/>
          <a:ext cx="0" cy="0"/>
          <a:chOff x="0" y="0"/>
          <a:chExt cx="0" cy="0"/>
        </a:xfrm>
      </p:grpSpPr>
      <p:pic>
        <p:nvPicPr>
          <p:cNvPr id="106" name="Google Shape;106;p13"/>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107" name="Google Shape;107;p13"/>
          <p:cNvSpPr txBox="1"/>
          <p:nvPr>
            <p:ph idx="1" type="body"/>
          </p:nvPr>
        </p:nvSpPr>
        <p:spPr>
          <a:xfrm>
            <a:off x="914399" y="1381181"/>
            <a:ext cx="5112328" cy="47989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8" name="Google Shape;108;p13"/>
          <p:cNvSpPr txBox="1"/>
          <p:nvPr>
            <p:ph idx="2" type="body"/>
          </p:nvPr>
        </p:nvSpPr>
        <p:spPr>
          <a:xfrm>
            <a:off x="6244770" y="1381181"/>
            <a:ext cx="5105400" cy="479896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 name="Google Shape;10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12" name="Google Shape;112;p13"/>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13" name="Google Shape;113;p13"/>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114" name="Google Shape;114;p13"/>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115" name="Shape 115"/>
        <p:cNvGrpSpPr/>
        <p:nvPr/>
      </p:nvGrpSpPr>
      <p:grpSpPr>
        <a:xfrm>
          <a:off x="0" y="0"/>
          <a:ext cx="0" cy="0"/>
          <a:chOff x="0" y="0"/>
          <a:chExt cx="0" cy="0"/>
        </a:xfrm>
      </p:grpSpPr>
      <p:pic>
        <p:nvPicPr>
          <p:cNvPr id="116" name="Google Shape;116;p14"/>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117" name="Google Shape;117;p14"/>
          <p:cNvSpPr txBox="1"/>
          <p:nvPr>
            <p:ph idx="1" type="body"/>
          </p:nvPr>
        </p:nvSpPr>
        <p:spPr>
          <a:xfrm>
            <a:off x="914399" y="1262291"/>
            <a:ext cx="5086928"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14"/>
          <p:cNvSpPr txBox="1"/>
          <p:nvPr>
            <p:ph idx="2" type="body"/>
          </p:nvPr>
        </p:nvSpPr>
        <p:spPr>
          <a:xfrm>
            <a:off x="914399" y="2154891"/>
            <a:ext cx="5086928" cy="403318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 name="Google Shape;119;p14"/>
          <p:cNvSpPr txBox="1"/>
          <p:nvPr>
            <p:ph idx="3" type="body"/>
          </p:nvPr>
        </p:nvSpPr>
        <p:spPr>
          <a:xfrm>
            <a:off x="6230257" y="1262288"/>
            <a:ext cx="5105400"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14"/>
          <p:cNvSpPr txBox="1"/>
          <p:nvPr>
            <p:ph idx="4" type="body"/>
          </p:nvPr>
        </p:nvSpPr>
        <p:spPr>
          <a:xfrm>
            <a:off x="6230257" y="2154891"/>
            <a:ext cx="5105400" cy="403318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1" name="Google Shape;12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24" name="Google Shape;124;p14"/>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25" name="Google Shape;125;p14"/>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126" name="Google Shape;126;p14"/>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27" name="Shape 127"/>
        <p:cNvGrpSpPr/>
        <p:nvPr/>
      </p:nvGrpSpPr>
      <p:grpSpPr>
        <a:xfrm>
          <a:off x="0" y="0"/>
          <a:ext cx="0" cy="0"/>
          <a:chOff x="0" y="0"/>
          <a:chExt cx="0" cy="0"/>
        </a:xfrm>
      </p:grpSpPr>
      <p:pic>
        <p:nvPicPr>
          <p:cNvPr id="128" name="Google Shape;128;p15"/>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129" name="Google Shape;12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32" name="Google Shape;132;p15"/>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33" name="Google Shape;133;p15"/>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134" name="Google Shape;134;p15"/>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spTree>
      <p:nvGrpSpPr>
        <p:cNvPr id="135" name="Shape 135"/>
        <p:cNvGrpSpPr/>
        <p:nvPr/>
      </p:nvGrpSpPr>
      <p:grpSpPr>
        <a:xfrm>
          <a:off x="0" y="0"/>
          <a:ext cx="0" cy="0"/>
          <a:chOff x="0" y="0"/>
          <a:chExt cx="0" cy="0"/>
        </a:xfrm>
      </p:grpSpPr>
      <p:pic>
        <p:nvPicPr>
          <p:cNvPr id="136" name="Google Shape;136;p16"/>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137" name="Google Shape;137;p16"/>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8" name="Google Shape;138;p16"/>
          <p:cNvSpPr txBox="1"/>
          <p:nvPr>
            <p:ph idx="2" type="body"/>
          </p:nvPr>
        </p:nvSpPr>
        <p:spPr>
          <a:xfrm>
            <a:off x="841248" y="2191660"/>
            <a:ext cx="3931920" cy="3675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9" name="Google Shape;13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42" name="Google Shape;142;p16"/>
          <p:cNvSpPr txBox="1"/>
          <p:nvPr>
            <p:ph type="title"/>
          </p:nvPr>
        </p:nvSpPr>
        <p:spPr>
          <a:xfrm>
            <a:off x="841248" y="457200"/>
            <a:ext cx="3931920" cy="14877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EADA7"/>
              </a:buClr>
              <a:buSzPts val="3200"/>
              <a:buFont typeface="Quattrocento Sans"/>
              <a:buNone/>
              <a:defRPr b="0" sz="3200">
                <a:solidFill>
                  <a:srgbClr val="3EADA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43" name="Google Shape;143;p16"/>
          <p:cNvCxnSpPr/>
          <p:nvPr/>
        </p:nvCxnSpPr>
        <p:spPr>
          <a:xfrm>
            <a:off x="860600" y="2061029"/>
            <a:ext cx="3931920" cy="0"/>
          </a:xfrm>
          <a:prstGeom prst="straightConnector1">
            <a:avLst/>
          </a:prstGeom>
          <a:noFill/>
          <a:ln cap="flat" cmpd="sng" w="9525">
            <a:solidFill>
              <a:srgbClr val="3DACA7"/>
            </a:solidFill>
            <a:prstDash val="solid"/>
            <a:round/>
            <a:headEnd len="sm" w="sm" type="none"/>
            <a:tailEnd len="sm" w="sm" type="none"/>
          </a:ln>
        </p:spPr>
      </p:cxnSp>
      <p:pic>
        <p:nvPicPr>
          <p:cNvPr id="144" name="Google Shape;144;p16"/>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45" name="Shape 145"/>
        <p:cNvGrpSpPr/>
        <p:nvPr/>
      </p:nvGrpSpPr>
      <p:grpSpPr>
        <a:xfrm>
          <a:off x="0" y="0"/>
          <a:ext cx="0" cy="0"/>
          <a:chOff x="0" y="0"/>
          <a:chExt cx="0" cy="0"/>
        </a:xfrm>
      </p:grpSpPr>
      <p:pic>
        <p:nvPicPr>
          <p:cNvPr id="146" name="Google Shape;146;p17"/>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147" name="Google Shape;147;p17"/>
          <p:cNvSpPr/>
          <p:nvPr>
            <p:ph idx="2" type="pic"/>
          </p:nvPr>
        </p:nvSpPr>
        <p:spPr>
          <a:xfrm>
            <a:off x="5181600" y="990600"/>
            <a:ext cx="6172200" cy="4876800"/>
          </a:xfrm>
          <a:prstGeom prst="rect">
            <a:avLst/>
          </a:prstGeom>
          <a:noFill/>
          <a:ln>
            <a:noFill/>
          </a:ln>
        </p:spPr>
      </p:sp>
      <p:sp>
        <p:nvSpPr>
          <p:cNvPr id="148" name="Google Shape;14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51" name="Google Shape;151;p17"/>
          <p:cNvSpPr txBox="1"/>
          <p:nvPr>
            <p:ph idx="1" type="body"/>
          </p:nvPr>
        </p:nvSpPr>
        <p:spPr>
          <a:xfrm>
            <a:off x="841248" y="2191660"/>
            <a:ext cx="3931920" cy="36757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52" name="Google Shape;152;p17"/>
          <p:cNvSpPr txBox="1"/>
          <p:nvPr>
            <p:ph type="title"/>
          </p:nvPr>
        </p:nvSpPr>
        <p:spPr>
          <a:xfrm>
            <a:off x="841248" y="457200"/>
            <a:ext cx="3931920" cy="14877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EADA7"/>
              </a:buClr>
              <a:buSzPts val="3200"/>
              <a:buFont typeface="Quattrocento Sans"/>
              <a:buNone/>
              <a:defRPr b="0" sz="3200">
                <a:solidFill>
                  <a:srgbClr val="3EADA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53" name="Google Shape;153;p17"/>
          <p:cNvCxnSpPr/>
          <p:nvPr/>
        </p:nvCxnSpPr>
        <p:spPr>
          <a:xfrm>
            <a:off x="860600" y="2061029"/>
            <a:ext cx="3931920" cy="0"/>
          </a:xfrm>
          <a:prstGeom prst="straightConnector1">
            <a:avLst/>
          </a:prstGeom>
          <a:noFill/>
          <a:ln cap="flat" cmpd="sng" w="9525">
            <a:solidFill>
              <a:srgbClr val="3DACA7"/>
            </a:solidFill>
            <a:prstDash val="solid"/>
            <a:round/>
            <a:headEnd len="sm" w="sm" type="none"/>
            <a:tailEnd len="sm" w="sm" type="none"/>
          </a:ln>
        </p:spPr>
      </p:cxnSp>
      <p:pic>
        <p:nvPicPr>
          <p:cNvPr id="154" name="Google Shape;154;p17"/>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Vertical Text">
  <p:cSld name="1_Title and Vertical Text">
    <p:spTree>
      <p:nvGrpSpPr>
        <p:cNvPr id="155" name="Shape 155"/>
        <p:cNvGrpSpPr/>
        <p:nvPr/>
      </p:nvGrpSpPr>
      <p:grpSpPr>
        <a:xfrm>
          <a:off x="0" y="0"/>
          <a:ext cx="0" cy="0"/>
          <a:chOff x="0" y="0"/>
          <a:chExt cx="0" cy="0"/>
        </a:xfrm>
      </p:grpSpPr>
      <p:pic>
        <p:nvPicPr>
          <p:cNvPr id="156" name="Google Shape;156;p18"/>
          <p:cNvPicPr preferRelativeResize="0"/>
          <p:nvPr/>
        </p:nvPicPr>
        <p:blipFill rotWithShape="1">
          <a:blip r:embed="rId2">
            <a:alphaModFix/>
          </a:blip>
          <a:srcRect b="0" l="72690" r="0" t="69862"/>
          <a:stretch/>
        </p:blipFill>
        <p:spPr>
          <a:xfrm>
            <a:off x="9694748" y="4789714"/>
            <a:ext cx="2497252" cy="2068286"/>
          </a:xfrm>
          <a:prstGeom prst="rect">
            <a:avLst/>
          </a:prstGeom>
          <a:noFill/>
          <a:ln>
            <a:noFill/>
          </a:ln>
        </p:spPr>
      </p:pic>
      <p:sp>
        <p:nvSpPr>
          <p:cNvPr id="157" name="Google Shape;157;p18"/>
          <p:cNvSpPr txBox="1"/>
          <p:nvPr>
            <p:ph idx="1" type="body"/>
          </p:nvPr>
        </p:nvSpPr>
        <p:spPr>
          <a:xfrm rot="5400000">
            <a:off x="3715859" y="-1496477"/>
            <a:ext cx="4767210" cy="105225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8" name="Google Shape;15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18"/>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61" name="Google Shape;161;p18"/>
          <p:cNvSpPr txBox="1"/>
          <p:nvPr>
            <p:ph type="title"/>
          </p:nvPr>
        </p:nvSpPr>
        <p:spPr>
          <a:xfrm>
            <a:off x="845127" y="365760"/>
            <a:ext cx="9445502" cy="826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EADA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62" name="Google Shape;162;p18"/>
          <p:cNvCxnSpPr/>
          <p:nvPr/>
        </p:nvCxnSpPr>
        <p:spPr>
          <a:xfrm>
            <a:off x="845127" y="1191932"/>
            <a:ext cx="10515600" cy="0"/>
          </a:xfrm>
          <a:prstGeom prst="straightConnector1">
            <a:avLst/>
          </a:prstGeom>
          <a:noFill/>
          <a:ln cap="flat" cmpd="sng" w="9525">
            <a:solidFill>
              <a:srgbClr val="3DACA7"/>
            </a:solidFill>
            <a:prstDash val="solid"/>
            <a:round/>
            <a:headEnd len="sm" w="sm" type="none"/>
            <a:tailEnd len="sm" w="sm" type="none"/>
          </a:ln>
        </p:spPr>
      </p:cxnSp>
      <p:pic>
        <p:nvPicPr>
          <p:cNvPr id="163" name="Google Shape;163;p18"/>
          <p:cNvPicPr preferRelativeResize="0"/>
          <p:nvPr/>
        </p:nvPicPr>
        <p:blipFill rotWithShape="1">
          <a:blip r:embed="rId3">
            <a:alphaModFix/>
          </a:blip>
          <a:srcRect b="0" l="0" r="0" t="0"/>
          <a:stretch/>
        </p:blipFill>
        <p:spPr>
          <a:xfrm>
            <a:off x="10560627" y="555008"/>
            <a:ext cx="800100" cy="4476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EADA7"/>
              </a:buClr>
              <a:buSzPts val="4400"/>
              <a:buFont typeface="Quattrocento Sans"/>
              <a:buNone/>
              <a:defRPr b="0" i="0" sz="4400" u="none" cap="none" strike="noStrike">
                <a:solidFill>
                  <a:srgbClr val="3EADA7"/>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github.com/shashank23088/nlp_projec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sciencedirect.com/science/article/pii/S1532046414001476?utm_source=chatgpt.com" TargetMode="External"/><Relationship Id="rId4" Type="http://schemas.openxmlformats.org/officeDocument/2006/relationships/hyperlink" Target="https://www.sciencedirect.com/science/article/pii/S1532046414001476?utm_source=chatgpt.com" TargetMode="External"/><Relationship Id="rId9" Type="http://schemas.openxmlformats.org/officeDocument/2006/relationships/hyperlink" Target="https://arxiv.org/abs/2302.13971?utm_source=chatgpt.com" TargetMode="External"/><Relationship Id="rId5" Type="http://schemas.openxmlformats.org/officeDocument/2006/relationships/hyperlink" Target="https://arxiv.org/abs/2101.00190?utm_source=chatgpt.com" TargetMode="External"/><Relationship Id="rId6" Type="http://schemas.openxmlformats.org/officeDocument/2006/relationships/hyperlink" Target="https://arxiv.org/abs/2101.00190?utm_source=chatgpt.com" TargetMode="External"/><Relationship Id="rId7" Type="http://schemas.openxmlformats.org/officeDocument/2006/relationships/hyperlink" Target="https://arxiv.org/abs/1910.10683?utm_source=chatgpt.com" TargetMode="External"/><Relationship Id="rId8" Type="http://schemas.openxmlformats.org/officeDocument/2006/relationships/hyperlink" Target="https://arxiv.org/abs/1910.10683?utm_source=chatgpt.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20" Type="http://schemas.openxmlformats.org/officeDocument/2006/relationships/hyperlink" Target="https://arxiv.org/abs/1910.10683%EE%88%86" TargetMode="External"/><Relationship Id="rId22" Type="http://schemas.openxmlformats.org/officeDocument/2006/relationships/hyperlink" Target="https://aclanthology.org/D17-1317.pdf%EE%88%86" TargetMode="External"/><Relationship Id="rId21" Type="http://schemas.openxmlformats.org/officeDocument/2006/relationships/hyperlink" Target="https://aclanthology.org/D17-1317.pdf%EE%88%86" TargetMode="External"/><Relationship Id="rId24" Type="http://schemas.openxmlformats.org/officeDocument/2006/relationships/hyperlink" Target="https://arxiv.org/abs/2302.13971%EE%88%86" TargetMode="External"/><Relationship Id="rId23" Type="http://schemas.openxmlformats.org/officeDocument/2006/relationships/hyperlink" Target="https://aclanthology.org/D17-1317.pdf%EE%88%86" TargetMode="External"/><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aclanthology.org/2024.findings-acl.942.pdf%EE%88%86" TargetMode="External"/><Relationship Id="rId4" Type="http://schemas.openxmlformats.org/officeDocument/2006/relationships/hyperlink" Target="https://aclanthology.org/2024.findings-acl.942.pdf%EE%88%86" TargetMode="External"/><Relationship Id="rId9" Type="http://schemas.openxmlformats.org/officeDocument/2006/relationships/hyperlink" Target="https://arxiv.org/abs/2206.01714%EE%88%86" TargetMode="External"/><Relationship Id="rId26" Type="http://schemas.openxmlformats.org/officeDocument/2006/relationships/hyperlink" Target="https://arxiv.org/abs/2302.13971%EE%88%86" TargetMode="External"/><Relationship Id="rId25" Type="http://schemas.openxmlformats.org/officeDocument/2006/relationships/hyperlink" Target="https://arxiv.org/abs/2302.13971%EE%88%86" TargetMode="External"/><Relationship Id="rId28" Type="http://schemas.openxmlformats.org/officeDocument/2006/relationships/hyperlink" Target="https://arxiv.org/abs/2202.06417%EE%88%86" TargetMode="External"/><Relationship Id="rId27" Type="http://schemas.openxmlformats.org/officeDocument/2006/relationships/hyperlink" Target="https://arxiv.org/abs/2202.06417%EE%88%86" TargetMode="External"/><Relationship Id="rId5" Type="http://schemas.openxmlformats.org/officeDocument/2006/relationships/hyperlink" Target="https://aclanthology.org/2024.findings-acl.942.pdf%EE%88%86" TargetMode="External"/><Relationship Id="rId6" Type="http://schemas.openxmlformats.org/officeDocument/2006/relationships/hyperlink" Target="https://aclanthology.org/P06-1106.pdf%EE%88%86" TargetMode="External"/><Relationship Id="rId29" Type="http://schemas.openxmlformats.org/officeDocument/2006/relationships/hyperlink" Target="https://arxiv.org/abs/2202.06417%EE%88%86" TargetMode="External"/><Relationship Id="rId7" Type="http://schemas.openxmlformats.org/officeDocument/2006/relationships/hyperlink" Target="https://aclanthology.org/P06-1106.pdf%EE%88%86" TargetMode="External"/><Relationship Id="rId8" Type="http://schemas.openxmlformats.org/officeDocument/2006/relationships/hyperlink" Target="https://aclanthology.org/P06-1106.pdf%EE%88%86" TargetMode="External"/><Relationship Id="rId31" Type="http://schemas.openxmlformats.org/officeDocument/2006/relationships/hyperlink" Target="https://aclanthology.org/2020.acl-main.458/%EE%88%86" TargetMode="External"/><Relationship Id="rId30" Type="http://schemas.openxmlformats.org/officeDocument/2006/relationships/hyperlink" Target="https://aclanthology.org/2020.acl-main.458/%EE%88%86" TargetMode="External"/><Relationship Id="rId11" Type="http://schemas.openxmlformats.org/officeDocument/2006/relationships/hyperlink" Target="https://arxiv.org/abs/2206.01714%EE%88%86" TargetMode="External"/><Relationship Id="rId10" Type="http://schemas.openxmlformats.org/officeDocument/2006/relationships/hyperlink" Target="https://arxiv.org/abs/2206.01714%EE%88%86" TargetMode="External"/><Relationship Id="rId13" Type="http://schemas.openxmlformats.org/officeDocument/2006/relationships/hyperlink" Target="https://arxiv.org/abs/2106.09685%EE%88%86" TargetMode="External"/><Relationship Id="rId12" Type="http://schemas.openxmlformats.org/officeDocument/2006/relationships/hyperlink" Target="https://arxiv.org/abs/2106.09685%EE%88%86" TargetMode="External"/><Relationship Id="rId15" Type="http://schemas.openxmlformats.org/officeDocument/2006/relationships/hyperlink" Target="https://arxiv.org/abs/2101.00190%EE%88%86" TargetMode="External"/><Relationship Id="rId14" Type="http://schemas.openxmlformats.org/officeDocument/2006/relationships/hyperlink" Target="https://arxiv.org/abs/2106.09685%EE%88%86" TargetMode="External"/><Relationship Id="rId17" Type="http://schemas.openxmlformats.org/officeDocument/2006/relationships/hyperlink" Target="https://arxiv.org/abs/2101.00190%EE%88%86" TargetMode="External"/><Relationship Id="rId16" Type="http://schemas.openxmlformats.org/officeDocument/2006/relationships/hyperlink" Target="https://arxiv.org/abs/2101.00190%EE%88%86" TargetMode="External"/><Relationship Id="rId19" Type="http://schemas.openxmlformats.org/officeDocument/2006/relationships/hyperlink" Target="https://arxiv.org/abs/1910.10683%EE%88%86" TargetMode="External"/><Relationship Id="rId18" Type="http://schemas.openxmlformats.org/officeDocument/2006/relationships/hyperlink" Target="https://arxiv.org/abs/1910.10683%EE%88%86"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ctrTitle"/>
          </p:nvPr>
        </p:nvSpPr>
        <p:spPr>
          <a:xfrm>
            <a:off x="1524000" y="1063671"/>
            <a:ext cx="9753600" cy="18750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5400"/>
              <a:buFont typeface="Quattrocento Sans"/>
              <a:buNone/>
            </a:pPr>
            <a:r>
              <a:rPr lang="en-IN"/>
              <a:t>NLP Project: Healthcare Answer Summarization</a:t>
            </a:r>
            <a:endParaRPr/>
          </a:p>
        </p:txBody>
      </p:sp>
      <p:sp>
        <p:nvSpPr>
          <p:cNvPr id="169" name="Google Shape;169;p19"/>
          <p:cNvSpPr txBox="1"/>
          <p:nvPr>
            <p:ph idx="1" type="subTitle"/>
          </p:nvPr>
        </p:nvSpPr>
        <p:spPr>
          <a:xfrm>
            <a:off x="3641550" y="3177950"/>
            <a:ext cx="4908900" cy="20427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E9F7F6"/>
              </a:buClr>
              <a:buSzPts val="2400"/>
              <a:buNone/>
            </a:pPr>
            <a:r>
              <a:rPr lang="en-IN"/>
              <a:t>Group Number: 11</a:t>
            </a:r>
            <a:endParaRPr/>
          </a:p>
          <a:p>
            <a:pPr indent="0" lvl="0" marL="0" rtl="0" algn="l">
              <a:lnSpc>
                <a:spcPct val="90000"/>
              </a:lnSpc>
              <a:spcBef>
                <a:spcPts val="0"/>
              </a:spcBef>
              <a:spcAft>
                <a:spcPts val="0"/>
              </a:spcAft>
              <a:buClr>
                <a:srgbClr val="E9F7F6"/>
              </a:buClr>
              <a:buSzPts val="2400"/>
              <a:buNone/>
            </a:pPr>
            <a:r>
              <a:rPr lang="en-IN"/>
              <a:t>Members: </a:t>
            </a:r>
            <a:endParaRPr/>
          </a:p>
          <a:p>
            <a:pPr indent="-381000" lvl="0" marL="457200" rtl="0" algn="l">
              <a:lnSpc>
                <a:spcPct val="90000"/>
              </a:lnSpc>
              <a:spcBef>
                <a:spcPts val="0"/>
              </a:spcBef>
              <a:spcAft>
                <a:spcPts val="0"/>
              </a:spcAft>
              <a:buSzPts val="2400"/>
              <a:buChar char="●"/>
            </a:pPr>
            <a:r>
              <a:rPr lang="en-IN"/>
              <a:t>Shashank G. Sharma (MT23088)</a:t>
            </a:r>
            <a:endParaRPr/>
          </a:p>
          <a:p>
            <a:pPr indent="-381000" lvl="0" marL="457200" rtl="0" algn="l">
              <a:lnSpc>
                <a:spcPct val="90000"/>
              </a:lnSpc>
              <a:spcBef>
                <a:spcPts val="0"/>
              </a:spcBef>
              <a:spcAft>
                <a:spcPts val="0"/>
              </a:spcAft>
              <a:buSzPts val="2400"/>
              <a:buChar char="●"/>
            </a:pPr>
            <a:r>
              <a:rPr lang="en-IN"/>
              <a:t>Shreyas Gupta (MT23221)</a:t>
            </a:r>
            <a:endParaRPr/>
          </a:p>
          <a:p>
            <a:pPr indent="-381000" lvl="0" marL="457200" rtl="0" algn="l">
              <a:lnSpc>
                <a:spcPct val="90000"/>
              </a:lnSpc>
              <a:spcBef>
                <a:spcPts val="0"/>
              </a:spcBef>
              <a:spcAft>
                <a:spcPts val="0"/>
              </a:spcAft>
              <a:buSzPts val="2400"/>
              <a:buChar char="●"/>
            </a:pPr>
            <a:r>
              <a:rPr lang="en-IN"/>
              <a:t>Sajid Javid (PhD24002)</a:t>
            </a:r>
            <a:endParaRPr/>
          </a:p>
          <a:p>
            <a:pPr indent="0" lvl="0" marL="0" rtl="0" algn="ctr">
              <a:lnSpc>
                <a:spcPct val="90000"/>
              </a:lnSpc>
              <a:spcBef>
                <a:spcPts val="1000"/>
              </a:spcBef>
              <a:spcAft>
                <a:spcPts val="0"/>
              </a:spcAft>
              <a:buClr>
                <a:srgbClr val="E9F7F6"/>
              </a:buClr>
              <a:buSzPts val="2400"/>
              <a:buNone/>
            </a:pPr>
            <a:r>
              <a:rPr b="1" lang="en-IN"/>
              <a:t> </a:t>
            </a:r>
            <a:endParaRPr/>
          </a:p>
        </p:txBody>
      </p:sp>
      <p:sp>
        <p:nvSpPr>
          <p:cNvPr id="170" name="Google Shape;170;p19"/>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100"/>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Problem Statement</a:t>
            </a:r>
            <a:endParaRPr/>
          </a:p>
        </p:txBody>
      </p:sp>
      <p:sp>
        <p:nvSpPr>
          <p:cNvPr id="176" name="Google Shape;176;p20"/>
          <p:cNvSpPr txBox="1"/>
          <p:nvPr>
            <p:ph idx="1" type="body"/>
          </p:nvPr>
        </p:nvSpPr>
        <p:spPr>
          <a:xfrm>
            <a:off x="845125" y="1381175"/>
            <a:ext cx="10342200" cy="48033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0"/>
              </a:spcBef>
              <a:spcAft>
                <a:spcPts val="0"/>
              </a:spcAft>
              <a:buSzPts val="2200"/>
              <a:buChar char="●"/>
            </a:pPr>
            <a:r>
              <a:rPr lang="en-IN" sz="2200"/>
              <a:t>Healthcare Q&amp;A platforms (e.g., Yahoo! Answers, Reddit) contain a mix of factual information, personal experiences, suggestions, and queries, making it challenging to extract concise, perspective specific summaries. </a:t>
            </a:r>
            <a:endParaRPr sz="2200"/>
          </a:p>
          <a:p>
            <a:pPr indent="0" lvl="0" marL="457200" rtl="0" algn="l">
              <a:lnSpc>
                <a:spcPct val="100000"/>
              </a:lnSpc>
              <a:spcBef>
                <a:spcPts val="0"/>
              </a:spcBef>
              <a:spcAft>
                <a:spcPts val="0"/>
              </a:spcAft>
              <a:buNone/>
            </a:pPr>
            <a:r>
              <a:t/>
            </a:r>
            <a:endParaRPr sz="2200"/>
          </a:p>
          <a:p>
            <a:pPr indent="-368300" lvl="0" marL="457200" rtl="0" algn="l">
              <a:lnSpc>
                <a:spcPct val="100000"/>
              </a:lnSpc>
              <a:spcBef>
                <a:spcPts val="0"/>
              </a:spcBef>
              <a:spcAft>
                <a:spcPts val="0"/>
              </a:spcAft>
              <a:buSzPts val="2200"/>
              <a:buChar char="●"/>
            </a:pPr>
            <a:r>
              <a:rPr lang="en-IN" sz="2200"/>
              <a:t>Our NLP system is designed to generate targeted summaries for distinct perspectives (suggestion, information,cause, experience, question) while preserving the author’s original intent. </a:t>
            </a:r>
            <a:endParaRPr sz="2200"/>
          </a:p>
          <a:p>
            <a:pPr indent="0" lvl="0" marL="457200" rtl="0" algn="l">
              <a:lnSpc>
                <a:spcPct val="100000"/>
              </a:lnSpc>
              <a:spcBef>
                <a:spcPts val="0"/>
              </a:spcBef>
              <a:spcAft>
                <a:spcPts val="0"/>
              </a:spcAft>
              <a:buNone/>
            </a:pPr>
            <a:r>
              <a:t/>
            </a:r>
            <a:endParaRPr sz="2200"/>
          </a:p>
          <a:p>
            <a:pPr indent="-368300" lvl="0" marL="457200" rtl="0" algn="l">
              <a:lnSpc>
                <a:spcPct val="100000"/>
              </a:lnSpc>
              <a:spcBef>
                <a:spcPts val="0"/>
              </a:spcBef>
              <a:spcAft>
                <a:spcPts val="0"/>
              </a:spcAft>
              <a:buSzPts val="2200"/>
              <a:buChar char="●"/>
            </a:pPr>
            <a:r>
              <a:rPr lang="en-IN" sz="2200"/>
              <a:t>In this work, we integrate two main modules: the baseline summarization model and an extended model that leverages classifier guidance and custom energy-based losses. </a:t>
            </a:r>
            <a:endParaRPr sz="2200"/>
          </a:p>
          <a:p>
            <a:pPr indent="0" lvl="0" marL="457200" rtl="0" algn="l">
              <a:lnSpc>
                <a:spcPct val="100000"/>
              </a:lnSpc>
              <a:spcBef>
                <a:spcPts val="0"/>
              </a:spcBef>
              <a:spcAft>
                <a:spcPts val="0"/>
              </a:spcAft>
              <a:buNone/>
            </a:pPr>
            <a:r>
              <a:t/>
            </a:r>
            <a:endParaRPr sz="2200"/>
          </a:p>
          <a:p>
            <a:pPr indent="-368300" lvl="0" marL="457200" rtl="0" algn="l">
              <a:lnSpc>
                <a:spcPct val="100000"/>
              </a:lnSpc>
              <a:spcBef>
                <a:spcPts val="0"/>
              </a:spcBef>
              <a:spcAft>
                <a:spcPts val="0"/>
              </a:spcAft>
              <a:buSzPts val="2200"/>
              <a:buChar char="●"/>
            </a:pPr>
            <a:r>
              <a:rPr lang="en-IN" sz="2200"/>
              <a:t>Evaluation Metrics: BLEU, BERTScore, ROUGE, additional human-centric assessments.</a:t>
            </a:r>
            <a:endParaRPr sz="2200"/>
          </a:p>
          <a:p>
            <a:pPr indent="0" lvl="0" marL="457200" rtl="0" algn="l">
              <a:lnSpc>
                <a:spcPct val="100000"/>
              </a:lnSpc>
              <a:spcBef>
                <a:spcPts val="0"/>
              </a:spcBef>
              <a:spcAft>
                <a:spcPts val="0"/>
              </a:spcAft>
              <a:buNone/>
            </a:pPr>
            <a:r>
              <a:rPr lang="en-IN" sz="2200"/>
              <a:t> </a:t>
            </a:r>
            <a:endParaRPr sz="2200"/>
          </a:p>
          <a:p>
            <a:pPr indent="-368300" lvl="0" marL="457200" rtl="0" algn="l">
              <a:lnSpc>
                <a:spcPct val="100000"/>
              </a:lnSpc>
              <a:spcBef>
                <a:spcPts val="0"/>
              </a:spcBef>
              <a:spcAft>
                <a:spcPts val="0"/>
              </a:spcAft>
              <a:buSzPts val="2200"/>
              <a:buChar char="●"/>
            </a:pPr>
            <a:r>
              <a:rPr lang="en-IN" sz="2200"/>
              <a:t>GitHub repository: </a:t>
            </a:r>
            <a:r>
              <a:rPr lang="en-IN" sz="2200" u="sng">
                <a:solidFill>
                  <a:schemeClr val="hlink"/>
                </a:solidFill>
                <a:hlinkClick r:id="rId3"/>
              </a:rPr>
              <a:t>here</a:t>
            </a:r>
            <a:endParaRPr sz="2200"/>
          </a:p>
        </p:txBody>
      </p:sp>
      <p:sp>
        <p:nvSpPr>
          <p:cNvPr id="177" name="Google Shape;177;p20"/>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Related Work</a:t>
            </a:r>
            <a:endParaRPr/>
          </a:p>
        </p:txBody>
      </p:sp>
      <p:sp>
        <p:nvSpPr>
          <p:cNvPr id="183" name="Google Shape;183;p21"/>
          <p:cNvSpPr txBox="1"/>
          <p:nvPr>
            <p:ph idx="1" type="body"/>
          </p:nvPr>
        </p:nvSpPr>
        <p:spPr>
          <a:xfrm>
            <a:off x="845127" y="1381182"/>
            <a:ext cx="10515600" cy="4799100"/>
          </a:xfrm>
          <a:prstGeom prst="rect">
            <a:avLst/>
          </a:prstGeom>
          <a:noFill/>
          <a:ln>
            <a:noFill/>
          </a:ln>
        </p:spPr>
        <p:txBody>
          <a:bodyPr anchorCtr="0" anchor="t" bIns="45700" lIns="91425" spcFirstLastPara="1" rIns="91425" wrap="square" tIns="45700">
            <a:noAutofit/>
          </a:bodyPr>
          <a:lstStyle/>
          <a:p>
            <a:pPr indent="-323850" lvl="0" marL="457200" rtl="0" algn="l">
              <a:spcBef>
                <a:spcPts val="1000"/>
              </a:spcBef>
              <a:spcAft>
                <a:spcPts val="0"/>
              </a:spcAft>
              <a:buSzPts val="1500"/>
              <a:buChar char="●"/>
            </a:pPr>
            <a:r>
              <a:rPr b="1" lang="en-IN" sz="1500"/>
              <a:t>Summarization in Healthcare Domains</a:t>
            </a:r>
            <a:r>
              <a:rPr lang="en-IN" sz="1500"/>
              <a:t>: Liang et al. (2019) developed a system for extractive summarization of clinical notes, focusing on disease-specific datasets like hypotension and diabetes. Demner-Fushman and Lin (2006) proposed methods for summarizing biomedical literature to assist clinical decision-making. Naik et al. (2024) introduced a perspective-aware summarization framework tailored for healthcare Q&amp;A forums, highlighting the importance of integrating diverse patient and caregiver viewpoints. ​</a:t>
            </a:r>
            <a:r>
              <a:rPr lang="en-IN" sz="1500" u="sng">
                <a:solidFill>
                  <a:schemeClr val="hlink"/>
                </a:solidFill>
                <a:hlinkClick r:id="rId3"/>
              </a:rPr>
              <a:t>ScienceDirect</a:t>
            </a:r>
            <a:br>
              <a:rPr lang="en-IN" sz="1500" u="sng">
                <a:solidFill>
                  <a:schemeClr val="hlink"/>
                </a:solidFill>
                <a:hlinkClick r:id="rId4"/>
              </a:rPr>
            </a:br>
            <a:endParaRPr sz="1500" u="sng">
              <a:solidFill>
                <a:schemeClr val="hlink"/>
              </a:solidFill>
            </a:endParaRPr>
          </a:p>
          <a:p>
            <a:pPr indent="-323850" lvl="0" marL="457200" rtl="0" algn="l">
              <a:spcBef>
                <a:spcPts val="0"/>
              </a:spcBef>
              <a:spcAft>
                <a:spcPts val="0"/>
              </a:spcAft>
              <a:buSzPts val="1500"/>
              <a:buChar char="●"/>
            </a:pPr>
            <a:r>
              <a:rPr b="1" lang="en-IN" sz="1500"/>
              <a:t>Perspective-Aware Text Classification</a:t>
            </a:r>
            <a:r>
              <a:rPr lang="en-IN" sz="1500"/>
              <a:t>: Rashkin et al. (2017) focused on detecting factuality and bias in news articles, emphasizing the need to understand different perspectives in text classification tasks. Zhang et al. (2021) utilized contrastive learning techniques for viewpoint detection, demonstrating the effectiveness of robust classifiers in capturing subtle contextual cues.​</a:t>
            </a:r>
            <a:br>
              <a:rPr lang="en-IN" sz="1500"/>
            </a:br>
            <a:endParaRPr sz="1500"/>
          </a:p>
          <a:p>
            <a:pPr indent="-323850" lvl="0" marL="457200" rtl="0" algn="l">
              <a:spcBef>
                <a:spcPts val="0"/>
              </a:spcBef>
              <a:spcAft>
                <a:spcPts val="0"/>
              </a:spcAft>
              <a:buSzPts val="1500"/>
              <a:buChar char="●"/>
            </a:pPr>
            <a:r>
              <a:rPr b="1" lang="en-IN" sz="1500"/>
              <a:t>Controlled Text Generation</a:t>
            </a:r>
            <a:r>
              <a:rPr lang="en-IN" sz="1500"/>
              <a:t>: Li and Liang (2021) introduced prefix-tuning, a lightweight alternative to full model fine-tuning, enabling efficient adaptation to new tasks.</a:t>
            </a:r>
            <a:r>
              <a:rPr lang="en-IN" sz="1500">
                <a:uFill>
                  <a:noFill/>
                </a:uFill>
                <a:hlinkClick r:id="rId5"/>
              </a:rPr>
              <a:t> </a:t>
            </a:r>
            <a:r>
              <a:rPr lang="en-IN" sz="1500" u="sng">
                <a:solidFill>
                  <a:schemeClr val="hlink"/>
                </a:solidFill>
                <a:hlinkClick r:id="rId6"/>
              </a:rPr>
              <a:t>arXiv</a:t>
            </a:r>
            <a:r>
              <a:rPr lang="en-IN" sz="1500"/>
              <a:t> Du et al. (2022) employed energy-based loss functions in tasks requiring finer control over generated outputs, such as text-to-image alignment.​</a:t>
            </a:r>
            <a:br>
              <a:rPr lang="en-IN" sz="1500"/>
            </a:br>
            <a:endParaRPr sz="1500"/>
          </a:p>
          <a:p>
            <a:pPr indent="-323850" lvl="0" marL="457200" rtl="0" algn="l">
              <a:spcBef>
                <a:spcPts val="0"/>
              </a:spcBef>
              <a:spcAft>
                <a:spcPts val="0"/>
              </a:spcAft>
              <a:buSzPts val="1500"/>
              <a:buChar char="●"/>
            </a:pPr>
            <a:r>
              <a:rPr b="1" lang="en-IN" sz="1500"/>
              <a:t>Instruction-Following Models</a:t>
            </a:r>
            <a:r>
              <a:rPr lang="en-IN" sz="1500"/>
              <a:t>: Raffel et al. (2020) developed the T5 model, framing all NLP tasks as text-to-text transformations, facilitating a unified approach to various language processing tasks. Touvron et al. (2023) introduced LLaMA, a decoder-only architecture that proves more flexible for open-ended tasks like stylized or perspective-conditioned summarization.</a:t>
            </a:r>
            <a:r>
              <a:rPr lang="en-IN" sz="1500">
                <a:uFill>
                  <a:noFill/>
                </a:uFill>
                <a:hlinkClick r:id="rId7"/>
              </a:rPr>
              <a:t> </a:t>
            </a:r>
            <a:r>
              <a:rPr lang="en-IN" sz="1500" u="sng">
                <a:solidFill>
                  <a:schemeClr val="hlink"/>
                </a:solidFill>
                <a:hlinkClick r:id="rId8"/>
              </a:rPr>
              <a:t>arXiv</a:t>
            </a:r>
            <a:r>
              <a:rPr lang="en-IN" sz="1500" u="sng">
                <a:solidFill>
                  <a:schemeClr val="hlink"/>
                </a:solidFill>
                <a:hlinkClick r:id="rId9"/>
              </a:rPr>
              <a:t>arXiv</a:t>
            </a:r>
            <a:r>
              <a:rPr lang="en-IN" sz="1500"/>
              <a:t>​</a:t>
            </a:r>
            <a:br>
              <a:rPr lang="en-IN" sz="1500"/>
            </a:br>
            <a:endParaRPr sz="1500"/>
          </a:p>
          <a:p>
            <a:pPr indent="-323850" lvl="0" marL="457200" rtl="0" algn="l">
              <a:spcBef>
                <a:spcPts val="0"/>
              </a:spcBef>
              <a:spcAft>
                <a:spcPts val="0"/>
              </a:spcAft>
              <a:buSzPts val="1500"/>
              <a:buChar char="●"/>
            </a:pPr>
            <a:r>
              <a:rPr b="1" lang="en-IN" sz="1500"/>
              <a:t>Few-Shot and Parameter-Efficient Fine-Tuning (PEFT) Techniques</a:t>
            </a:r>
            <a:r>
              <a:rPr lang="en-IN" sz="1500"/>
              <a:t>: Hu et al. (2021) proposed Low-Rank Adaptation (LoRA), which freezes pre-trained model weights and injects trainable rank decomposition matrices into each layer of the Transformer architecture, reducing the number of trainable parameters for downstream tasks.</a:t>
            </a:r>
            <a:endParaRPr b="1" sz="1500"/>
          </a:p>
        </p:txBody>
      </p:sp>
      <p:sp>
        <p:nvSpPr>
          <p:cNvPr id="184" name="Google Shape;184;p21"/>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Baseline 1 and 2</a:t>
            </a:r>
            <a:endParaRPr/>
          </a:p>
        </p:txBody>
      </p:sp>
      <p:sp>
        <p:nvSpPr>
          <p:cNvPr id="190" name="Google Shape;190;p22"/>
          <p:cNvSpPr txBox="1"/>
          <p:nvPr>
            <p:ph idx="1" type="body"/>
          </p:nvPr>
        </p:nvSpPr>
        <p:spPr>
          <a:xfrm>
            <a:off x="845127" y="1381182"/>
            <a:ext cx="10515600" cy="4799100"/>
          </a:xfrm>
          <a:prstGeom prst="rect">
            <a:avLst/>
          </a:prstGeom>
          <a:noFill/>
          <a:ln>
            <a:noFill/>
          </a:ln>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IN" sz="1800"/>
              <a:t>P</a:t>
            </a:r>
            <a:r>
              <a:rPr lang="en-IN" sz="1800"/>
              <a:t>erform direct inference using meta-llama/Llama-3.2-3B- Instruct with custom prompts. The system is evaluated on test sets.</a:t>
            </a:r>
            <a:endParaRPr sz="1800"/>
          </a:p>
          <a:p>
            <a:pPr indent="-342900" lvl="0" marL="457200" rtl="0" algn="l">
              <a:spcBef>
                <a:spcPts val="0"/>
              </a:spcBef>
              <a:spcAft>
                <a:spcPts val="0"/>
              </a:spcAft>
              <a:buSzPts val="1800"/>
              <a:buChar char="●"/>
            </a:pPr>
            <a:r>
              <a:rPr lang="en-IN" sz="1800"/>
              <a:t>Implemented the T5 based baseline approach described by Naik et al. (2024), which utilizes the PLASMA model for perspective-aware summarization.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lnSpc>
                <a:spcPct val="90000"/>
              </a:lnSpc>
              <a:spcBef>
                <a:spcPts val="1000"/>
              </a:spcBef>
              <a:spcAft>
                <a:spcPts val="0"/>
              </a:spcAft>
              <a:buSzPts val="1800"/>
              <a:buNone/>
            </a:pPr>
            <a:r>
              <a:t/>
            </a:r>
            <a:endParaRPr sz="1800"/>
          </a:p>
        </p:txBody>
      </p:sp>
      <p:sp>
        <p:nvSpPr>
          <p:cNvPr id="191" name="Google Shape;191;p22"/>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192" name="Google Shape;192;p22" title="Screenshot 2025-04-15 at 10.43.09 PM.png"/>
          <p:cNvPicPr preferRelativeResize="0"/>
          <p:nvPr/>
        </p:nvPicPr>
        <p:blipFill>
          <a:blip r:embed="rId3">
            <a:alphaModFix/>
          </a:blip>
          <a:stretch>
            <a:fillRect/>
          </a:stretch>
        </p:blipFill>
        <p:spPr>
          <a:xfrm>
            <a:off x="1897600" y="2588150"/>
            <a:ext cx="4613715" cy="3768199"/>
          </a:xfrm>
          <a:prstGeom prst="rect">
            <a:avLst/>
          </a:prstGeom>
          <a:noFill/>
          <a:ln>
            <a:noFill/>
          </a:ln>
        </p:spPr>
      </p:pic>
      <p:pic>
        <p:nvPicPr>
          <p:cNvPr id="193" name="Google Shape;193;p22" title="Screenshot 2025-04-15 at 10.43.38 PM.png"/>
          <p:cNvPicPr preferRelativeResize="0"/>
          <p:nvPr/>
        </p:nvPicPr>
        <p:blipFill>
          <a:blip r:embed="rId4">
            <a:alphaModFix/>
          </a:blip>
          <a:stretch>
            <a:fillRect/>
          </a:stretch>
        </p:blipFill>
        <p:spPr>
          <a:xfrm>
            <a:off x="7716750" y="2379187"/>
            <a:ext cx="3304450" cy="4186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724177" y="154085"/>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A</a:t>
            </a:r>
            <a:r>
              <a:rPr lang="en-IN"/>
              <a:t>pproach 1</a:t>
            </a:r>
            <a:endParaRPr/>
          </a:p>
        </p:txBody>
      </p:sp>
      <p:sp>
        <p:nvSpPr>
          <p:cNvPr id="199" name="Google Shape;199;p23"/>
          <p:cNvSpPr txBox="1"/>
          <p:nvPr>
            <p:ph idx="1" type="body"/>
          </p:nvPr>
        </p:nvSpPr>
        <p:spPr>
          <a:xfrm>
            <a:off x="362500" y="1282225"/>
            <a:ext cx="8537400" cy="507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IN" sz="1300" u="sng">
                <a:latin typeface="Arial"/>
                <a:ea typeface="Arial"/>
                <a:cs typeface="Arial"/>
                <a:sym typeface="Arial"/>
              </a:rPr>
              <a:t>T5 Limitations</a:t>
            </a:r>
            <a:r>
              <a:rPr lang="en-IN" sz="1300" u="sng">
                <a:latin typeface="Arial"/>
                <a:ea typeface="Arial"/>
                <a:cs typeface="Arial"/>
                <a:sym typeface="Arial"/>
              </a:rPr>
              <a:t>:</a:t>
            </a:r>
            <a:endParaRPr sz="1300" u="sng">
              <a:latin typeface="Arial"/>
              <a:ea typeface="Arial"/>
              <a:cs typeface="Arial"/>
              <a:sym typeface="Arial"/>
            </a:endParaRPr>
          </a:p>
          <a:p>
            <a:pPr indent="-311150" lvl="0" marL="457200" rtl="0" algn="l">
              <a:lnSpc>
                <a:spcPct val="100000"/>
              </a:lnSpc>
              <a:spcBef>
                <a:spcPts val="1200"/>
              </a:spcBef>
              <a:spcAft>
                <a:spcPts val="0"/>
              </a:spcAft>
              <a:buSzPts val="1300"/>
              <a:buFont typeface="Arial"/>
              <a:buChar char="●"/>
            </a:pPr>
            <a:r>
              <a:rPr b="1" lang="en-IN" sz="1300">
                <a:latin typeface="Arial"/>
                <a:ea typeface="Arial"/>
                <a:cs typeface="Arial"/>
                <a:sym typeface="Arial"/>
              </a:rPr>
              <a:t>Encoder-Decoder Design</a:t>
            </a:r>
            <a:r>
              <a:rPr lang="en-IN" sz="1300">
                <a:latin typeface="Arial"/>
                <a:ea typeface="Arial"/>
                <a:cs typeface="Arial"/>
                <a:sym typeface="Arial"/>
              </a:rPr>
              <a:t>: Optimized for structured tasks; less adaptable for open-ended generation.</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b="1" lang="en-IN" sz="1300">
                <a:latin typeface="Arial"/>
                <a:ea typeface="Arial"/>
                <a:cs typeface="Arial"/>
                <a:sym typeface="Arial"/>
              </a:rPr>
              <a:t>Challenges</a:t>
            </a:r>
            <a:r>
              <a:rPr lang="en-IN" sz="1300">
                <a:latin typeface="Arial"/>
                <a:ea typeface="Arial"/>
                <a:cs typeface="Arial"/>
                <a:sym typeface="Arial"/>
              </a:rPr>
              <a:t>:</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lang="en-IN" sz="1300">
                <a:latin typeface="Arial"/>
                <a:ea typeface="Arial"/>
                <a:cs typeface="Arial"/>
                <a:sym typeface="Arial"/>
              </a:rPr>
              <a:t>Rigid outputs with ambiguous prompts.</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lang="en-IN" sz="1300">
                <a:latin typeface="Arial"/>
                <a:ea typeface="Arial"/>
                <a:cs typeface="Arial"/>
                <a:sym typeface="Arial"/>
              </a:rPr>
              <a:t>Difficulty maintaining long-form coherence.</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lang="en-IN" sz="1300">
                <a:latin typeface="Arial"/>
                <a:ea typeface="Arial"/>
                <a:cs typeface="Arial"/>
                <a:sym typeface="Arial"/>
              </a:rPr>
              <a:t>Higher inference costs, impacting real-time applications.​</a:t>
            </a:r>
            <a:endParaRPr sz="1300">
              <a:latin typeface="Arial"/>
              <a:ea typeface="Arial"/>
              <a:cs typeface="Arial"/>
              <a:sym typeface="Arial"/>
            </a:endParaRPr>
          </a:p>
          <a:p>
            <a:pPr indent="0" lvl="0" marL="0" rtl="0" algn="l">
              <a:lnSpc>
                <a:spcPct val="100000"/>
              </a:lnSpc>
              <a:spcBef>
                <a:spcPts val="1200"/>
              </a:spcBef>
              <a:spcAft>
                <a:spcPts val="0"/>
              </a:spcAft>
              <a:buNone/>
            </a:pPr>
            <a:r>
              <a:rPr b="1" lang="en-IN" sz="1300" u="sng">
                <a:latin typeface="Arial"/>
                <a:ea typeface="Arial"/>
                <a:cs typeface="Arial"/>
                <a:sym typeface="Arial"/>
              </a:rPr>
              <a:t>LLaMA 3 Advantages</a:t>
            </a:r>
            <a:r>
              <a:rPr lang="en-IN" sz="1300" u="sng">
                <a:latin typeface="Arial"/>
                <a:ea typeface="Arial"/>
                <a:cs typeface="Arial"/>
                <a:sym typeface="Arial"/>
              </a:rPr>
              <a:t>:</a:t>
            </a:r>
            <a:endParaRPr sz="1300" u="sng">
              <a:latin typeface="Arial"/>
              <a:ea typeface="Arial"/>
              <a:cs typeface="Arial"/>
              <a:sym typeface="Arial"/>
            </a:endParaRPr>
          </a:p>
          <a:p>
            <a:pPr indent="-311150" lvl="0" marL="457200" rtl="0" algn="l">
              <a:lnSpc>
                <a:spcPct val="100000"/>
              </a:lnSpc>
              <a:spcBef>
                <a:spcPts val="1200"/>
              </a:spcBef>
              <a:spcAft>
                <a:spcPts val="0"/>
              </a:spcAft>
              <a:buSzPts val="1300"/>
              <a:buFont typeface="Arial"/>
              <a:buChar char="●"/>
            </a:pPr>
            <a:r>
              <a:rPr b="1" lang="en-IN" sz="1300">
                <a:latin typeface="Arial"/>
                <a:ea typeface="Arial"/>
                <a:cs typeface="Arial"/>
                <a:sym typeface="Arial"/>
              </a:rPr>
              <a:t>Decoder-Only Architecture</a:t>
            </a:r>
            <a:r>
              <a:rPr lang="en-IN" sz="1300">
                <a:latin typeface="Arial"/>
                <a:ea typeface="Arial"/>
                <a:cs typeface="Arial"/>
                <a:sym typeface="Arial"/>
              </a:rPr>
              <a:t>: Autoregressive design enhances context-aware generation.</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b="1" lang="en-IN" sz="1300">
                <a:latin typeface="Arial"/>
                <a:ea typeface="Arial"/>
                <a:cs typeface="Arial"/>
                <a:sym typeface="Arial"/>
              </a:rPr>
              <a:t>Benefits</a:t>
            </a:r>
            <a:r>
              <a:rPr lang="en-IN" sz="1300">
                <a:latin typeface="Arial"/>
                <a:ea typeface="Arial"/>
                <a:cs typeface="Arial"/>
                <a:sym typeface="Arial"/>
              </a:rPr>
              <a:t>:</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lang="en-IN" sz="1300">
                <a:latin typeface="Arial"/>
                <a:ea typeface="Arial"/>
                <a:cs typeface="Arial"/>
                <a:sym typeface="Arial"/>
              </a:rPr>
              <a:t>Improved coherence in extended text.</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lang="en-IN" sz="1300">
                <a:latin typeface="Arial"/>
                <a:ea typeface="Arial"/>
                <a:cs typeface="Arial"/>
                <a:sym typeface="Arial"/>
              </a:rPr>
              <a:t>Lower memory usage and faster inference.</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lang="en-IN" sz="1300">
                <a:latin typeface="Arial"/>
                <a:ea typeface="Arial"/>
                <a:cs typeface="Arial"/>
                <a:sym typeface="Arial"/>
              </a:rPr>
              <a:t>Effective few-shot learning for tasks like perspective-specific summarization.​</a:t>
            </a:r>
            <a:endParaRPr sz="1300">
              <a:latin typeface="Arial"/>
              <a:ea typeface="Arial"/>
              <a:cs typeface="Arial"/>
              <a:sym typeface="Arial"/>
            </a:endParaRPr>
          </a:p>
          <a:p>
            <a:pPr indent="0" lvl="0" marL="0" rtl="0" algn="l">
              <a:lnSpc>
                <a:spcPct val="100000"/>
              </a:lnSpc>
              <a:spcBef>
                <a:spcPts val="1200"/>
              </a:spcBef>
              <a:spcAft>
                <a:spcPts val="0"/>
              </a:spcAft>
              <a:buNone/>
            </a:pPr>
            <a:r>
              <a:rPr b="1" lang="en-IN" sz="1300" u="sng">
                <a:latin typeface="Arial"/>
                <a:ea typeface="Arial"/>
                <a:cs typeface="Arial"/>
                <a:sym typeface="Arial"/>
              </a:rPr>
              <a:t>Integrated Components</a:t>
            </a:r>
            <a:r>
              <a:rPr lang="en-IN" sz="1300" u="sng">
                <a:latin typeface="Arial"/>
                <a:ea typeface="Arial"/>
                <a:cs typeface="Arial"/>
                <a:sym typeface="Arial"/>
              </a:rPr>
              <a:t>:</a:t>
            </a:r>
            <a:endParaRPr sz="1300" u="sng">
              <a:latin typeface="Arial"/>
              <a:ea typeface="Arial"/>
              <a:cs typeface="Arial"/>
              <a:sym typeface="Arial"/>
            </a:endParaRPr>
          </a:p>
          <a:p>
            <a:pPr indent="-311150" lvl="0" marL="457200" rtl="0" algn="l">
              <a:lnSpc>
                <a:spcPct val="100000"/>
              </a:lnSpc>
              <a:spcBef>
                <a:spcPts val="1200"/>
              </a:spcBef>
              <a:spcAft>
                <a:spcPts val="0"/>
              </a:spcAft>
              <a:buSzPts val="1300"/>
              <a:buFont typeface="Arial"/>
              <a:buChar char="●"/>
            </a:pPr>
            <a:r>
              <a:rPr b="1" lang="en-IN" sz="1300">
                <a:latin typeface="Arial"/>
                <a:ea typeface="Arial"/>
                <a:cs typeface="Arial"/>
                <a:sym typeface="Arial"/>
              </a:rPr>
              <a:t>RoBERTa-Based Classifier</a:t>
            </a:r>
            <a:r>
              <a:rPr lang="en-IN" sz="1300">
                <a:latin typeface="Arial"/>
                <a:ea typeface="Arial"/>
                <a:cs typeface="Arial"/>
                <a:sym typeface="Arial"/>
              </a:rPr>
              <a:t>: Categorizes text into five perspectives: EXPERIENCE, SUGGESTION, INFORMATION, CAUSE, and QUESTION.</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b="1" lang="en-IN" sz="1300">
                <a:latin typeface="Arial"/>
                <a:ea typeface="Arial"/>
                <a:cs typeface="Arial"/>
                <a:sym typeface="Arial"/>
              </a:rPr>
              <a:t>Tiny LLaMA 3.2B-Instruct</a:t>
            </a:r>
            <a:r>
              <a:rPr lang="en-IN" sz="1300">
                <a:latin typeface="Arial"/>
                <a:ea typeface="Arial"/>
                <a:cs typeface="Arial"/>
                <a:sym typeface="Arial"/>
              </a:rPr>
              <a:t>: Core language model for summarization tasks, employing prefix tuning through the PEFT (Parameter-Efficient Fine-Tuning) approach for efficient adaptation.</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b="1" lang="en-IN" sz="1300">
                <a:latin typeface="Arial"/>
                <a:ea typeface="Arial"/>
                <a:cs typeface="Arial"/>
                <a:sym typeface="Arial"/>
              </a:rPr>
              <a:t>Custom Energy-Based Loss Function</a:t>
            </a:r>
            <a:r>
              <a:rPr lang="en-IN" sz="1300">
                <a:latin typeface="Arial"/>
                <a:ea typeface="Arial"/>
                <a:cs typeface="Arial"/>
                <a:sym typeface="Arial"/>
              </a:rPr>
              <a:t>:</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b="1" lang="en-IN" sz="1300">
                <a:latin typeface="Arial"/>
                <a:ea typeface="Arial"/>
                <a:cs typeface="Arial"/>
                <a:sym typeface="Arial"/>
              </a:rPr>
              <a:t>Ep (Perspective Confidence)</a:t>
            </a:r>
            <a:r>
              <a:rPr lang="en-IN" sz="1300">
                <a:latin typeface="Arial"/>
                <a:ea typeface="Arial"/>
                <a:cs typeface="Arial"/>
                <a:sym typeface="Arial"/>
              </a:rPr>
              <a:t>: Assesses alignment with the intended perspective using the classifier.</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b="1" lang="en-IN" sz="1300">
                <a:latin typeface="Arial"/>
                <a:ea typeface="Arial"/>
                <a:cs typeface="Arial"/>
                <a:sym typeface="Arial"/>
              </a:rPr>
              <a:t>Es (Lead Phrase Alignment)</a:t>
            </a:r>
            <a:r>
              <a:rPr lang="en-IN" sz="1300">
                <a:latin typeface="Arial"/>
                <a:ea typeface="Arial"/>
                <a:cs typeface="Arial"/>
                <a:sym typeface="Arial"/>
              </a:rPr>
              <a:t>: Evaluates the match between the summary's opening and predefined perspective-specific phrases.</a:t>
            </a:r>
            <a:endParaRPr sz="1300">
              <a:latin typeface="Arial"/>
              <a:ea typeface="Arial"/>
              <a:cs typeface="Arial"/>
              <a:sym typeface="Arial"/>
            </a:endParaRPr>
          </a:p>
          <a:p>
            <a:pPr indent="-311150" lvl="1" marL="914400" rtl="0" algn="l">
              <a:lnSpc>
                <a:spcPct val="100000"/>
              </a:lnSpc>
              <a:spcBef>
                <a:spcPts val="0"/>
              </a:spcBef>
              <a:spcAft>
                <a:spcPts val="0"/>
              </a:spcAft>
              <a:buSzPts val="1300"/>
              <a:buFont typeface="Arial"/>
              <a:buChar char="○"/>
            </a:pPr>
            <a:r>
              <a:rPr b="1" lang="en-IN" sz="1300">
                <a:latin typeface="Arial"/>
                <a:ea typeface="Arial"/>
                <a:cs typeface="Arial"/>
                <a:sym typeface="Arial"/>
              </a:rPr>
              <a:t>Et (Semantic Similarity)</a:t>
            </a:r>
            <a:r>
              <a:rPr lang="en-IN" sz="1300">
                <a:latin typeface="Arial"/>
                <a:ea typeface="Arial"/>
                <a:cs typeface="Arial"/>
                <a:sym typeface="Arial"/>
              </a:rPr>
              <a:t>: Measures the semantic closeness between the summary and perspective-associated token lists using BERT embeddings.</a:t>
            </a:r>
            <a:endParaRPr sz="1300">
              <a:latin typeface="Arial"/>
              <a:ea typeface="Arial"/>
              <a:cs typeface="Arial"/>
              <a:sym typeface="Arial"/>
            </a:endParaRPr>
          </a:p>
          <a:p>
            <a:pPr indent="0" lvl="0" marL="1371600" rtl="0" algn="l">
              <a:lnSpc>
                <a:spcPct val="105000"/>
              </a:lnSpc>
              <a:spcBef>
                <a:spcPts val="1200"/>
              </a:spcBef>
              <a:spcAft>
                <a:spcPts val="1200"/>
              </a:spcAft>
              <a:buNone/>
            </a:pPr>
            <a:r>
              <a:t/>
            </a:r>
            <a:endParaRPr b="1" sz="805">
              <a:latin typeface="Arial"/>
              <a:ea typeface="Arial"/>
              <a:cs typeface="Arial"/>
              <a:sym typeface="Arial"/>
            </a:endParaRPr>
          </a:p>
        </p:txBody>
      </p:sp>
      <p:sp>
        <p:nvSpPr>
          <p:cNvPr id="200" name="Google Shape;200;p23"/>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01" name="Google Shape;201;p23" title="Screenshot 2025-04-15 at 10.54.11 PM.png"/>
          <p:cNvPicPr preferRelativeResize="0"/>
          <p:nvPr/>
        </p:nvPicPr>
        <p:blipFill>
          <a:blip r:embed="rId3">
            <a:alphaModFix/>
          </a:blip>
          <a:stretch>
            <a:fillRect/>
          </a:stretch>
        </p:blipFill>
        <p:spPr>
          <a:xfrm>
            <a:off x="8840350" y="1504225"/>
            <a:ext cx="3238050" cy="48521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900"/>
              <a:buNone/>
            </a:pPr>
            <a:r>
              <a:rPr lang="en-IN"/>
              <a:t>Approach 1 Results and Analysis</a:t>
            </a:r>
            <a:endParaRPr/>
          </a:p>
        </p:txBody>
      </p:sp>
      <p:sp>
        <p:nvSpPr>
          <p:cNvPr id="207" name="Google Shape;207;p24"/>
          <p:cNvSpPr txBox="1"/>
          <p:nvPr>
            <p:ph idx="1" type="body"/>
          </p:nvPr>
        </p:nvSpPr>
        <p:spPr>
          <a:xfrm>
            <a:off x="596350" y="1288100"/>
            <a:ext cx="7740600" cy="5259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IN" sz="1500"/>
              <a:t>Key Observations:</a:t>
            </a:r>
            <a:endParaRPr b="1" sz="1500"/>
          </a:p>
          <a:p>
            <a:pPr indent="-323850" lvl="0" marL="457200" rtl="0" algn="l">
              <a:lnSpc>
                <a:spcPct val="115000"/>
              </a:lnSpc>
              <a:spcBef>
                <a:spcPts val="1200"/>
              </a:spcBef>
              <a:spcAft>
                <a:spcPts val="0"/>
              </a:spcAft>
              <a:buSzPts val="1500"/>
              <a:buFont typeface="Calibri"/>
              <a:buChar char="●"/>
            </a:pPr>
            <a:r>
              <a:rPr b="1" lang="en-IN" sz="1500"/>
              <a:t>Enhanced Performance with LLaMA3:</a:t>
            </a:r>
            <a:endParaRPr b="1" sz="1500"/>
          </a:p>
          <a:p>
            <a:pPr indent="-323850" lvl="1" marL="914400" rtl="0" algn="l">
              <a:lnSpc>
                <a:spcPct val="115000"/>
              </a:lnSpc>
              <a:spcBef>
                <a:spcPts val="0"/>
              </a:spcBef>
              <a:spcAft>
                <a:spcPts val="0"/>
              </a:spcAft>
              <a:buSzPts val="1500"/>
              <a:buFont typeface="Calibri"/>
              <a:buChar char="○"/>
            </a:pPr>
            <a:r>
              <a:rPr lang="en-IN" sz="1500"/>
              <a:t>Model 3 outperforms Model 2 across all evaluation metrics, indicating superior summarization capabilities.​</a:t>
            </a:r>
            <a:br>
              <a:rPr lang="en-IN" sz="1500"/>
            </a:br>
            <a:endParaRPr sz="1500"/>
          </a:p>
          <a:p>
            <a:pPr indent="-323850" lvl="0" marL="457200" rtl="0" algn="l">
              <a:lnSpc>
                <a:spcPct val="115000"/>
              </a:lnSpc>
              <a:spcBef>
                <a:spcPts val="0"/>
              </a:spcBef>
              <a:spcAft>
                <a:spcPts val="0"/>
              </a:spcAft>
              <a:buSzPts val="1500"/>
              <a:buFont typeface="Calibri"/>
              <a:buChar char="●"/>
            </a:pPr>
            <a:r>
              <a:rPr b="1" lang="en-IN" sz="1500"/>
              <a:t>Semantic Understanding:</a:t>
            </a:r>
            <a:endParaRPr b="1" sz="1500"/>
          </a:p>
          <a:p>
            <a:pPr indent="-323850" lvl="1" marL="914400" rtl="0" algn="l">
              <a:lnSpc>
                <a:spcPct val="115000"/>
              </a:lnSpc>
              <a:spcBef>
                <a:spcPts val="0"/>
              </a:spcBef>
              <a:spcAft>
                <a:spcPts val="0"/>
              </a:spcAft>
              <a:buSzPts val="1500"/>
              <a:buFont typeface="Calibri"/>
              <a:buChar char="○"/>
            </a:pPr>
            <a:r>
              <a:rPr lang="en-IN" sz="1500"/>
              <a:t>Higher BERTScore suggests Model 3's summaries are more semantically aligned with reference texts, reflecting better contextual comprehension.​</a:t>
            </a:r>
            <a:br>
              <a:rPr lang="en-IN" sz="1500"/>
            </a:br>
            <a:endParaRPr sz="1500"/>
          </a:p>
          <a:p>
            <a:pPr indent="-323850" lvl="0" marL="457200" rtl="0" algn="l">
              <a:lnSpc>
                <a:spcPct val="115000"/>
              </a:lnSpc>
              <a:spcBef>
                <a:spcPts val="0"/>
              </a:spcBef>
              <a:spcAft>
                <a:spcPts val="0"/>
              </a:spcAft>
              <a:buSzPts val="1500"/>
              <a:buFont typeface="Calibri"/>
              <a:buChar char="●"/>
            </a:pPr>
            <a:r>
              <a:rPr b="1" lang="en-IN" sz="1500"/>
              <a:t>Improved Coherence and Precision:</a:t>
            </a:r>
            <a:endParaRPr b="1" sz="1500"/>
          </a:p>
          <a:p>
            <a:pPr indent="-323850" lvl="1" marL="914400" rtl="0" algn="l">
              <a:lnSpc>
                <a:spcPct val="115000"/>
              </a:lnSpc>
              <a:spcBef>
                <a:spcPts val="0"/>
              </a:spcBef>
              <a:spcAft>
                <a:spcPts val="0"/>
              </a:spcAft>
              <a:buSzPts val="1500"/>
              <a:buFont typeface="Calibri"/>
              <a:buChar char="○"/>
            </a:pPr>
            <a:r>
              <a:rPr lang="en-IN" sz="1500"/>
              <a:t>Elevated ROUGE and BLEU scores demonstrate Model 3's ability to generate more coherent and precise summaries.​</a:t>
            </a:r>
            <a:br>
              <a:rPr lang="en-IN" sz="1500"/>
            </a:br>
            <a:endParaRPr sz="1500"/>
          </a:p>
          <a:p>
            <a:pPr indent="-323850" lvl="0" marL="457200" rtl="0" algn="l">
              <a:lnSpc>
                <a:spcPct val="115000"/>
              </a:lnSpc>
              <a:spcBef>
                <a:spcPts val="0"/>
              </a:spcBef>
              <a:spcAft>
                <a:spcPts val="0"/>
              </a:spcAft>
              <a:buSzPts val="1500"/>
              <a:buFont typeface="Calibri"/>
              <a:buChar char="●"/>
            </a:pPr>
            <a:r>
              <a:rPr b="1" lang="en-IN" sz="1500"/>
              <a:t>Effective for Open-Ended Tasks:</a:t>
            </a:r>
            <a:endParaRPr b="1" sz="1500"/>
          </a:p>
          <a:p>
            <a:pPr indent="-323850" lvl="1" marL="914400" rtl="0" algn="l">
              <a:lnSpc>
                <a:spcPct val="115000"/>
              </a:lnSpc>
              <a:spcBef>
                <a:spcPts val="0"/>
              </a:spcBef>
              <a:spcAft>
                <a:spcPts val="0"/>
              </a:spcAft>
              <a:buSzPts val="1500"/>
              <a:buFont typeface="Calibri"/>
              <a:buChar char="○"/>
            </a:pPr>
            <a:r>
              <a:rPr lang="en-IN" sz="1500"/>
              <a:t>The autoregressive, decoder-only architecture of LLaMA3 enhances adaptability and efficiency, making it more suitable for dynamic, open-ended summarization tasks.</a:t>
            </a:r>
            <a:endParaRPr sz="1500"/>
          </a:p>
        </p:txBody>
      </p:sp>
      <p:sp>
        <p:nvSpPr>
          <p:cNvPr id="208" name="Google Shape;208;p24"/>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09" name="Google Shape;209;p24" title="Screenshot 2025-04-15 at 10.46.35 PM.png"/>
          <p:cNvPicPr preferRelativeResize="0"/>
          <p:nvPr/>
        </p:nvPicPr>
        <p:blipFill>
          <a:blip r:embed="rId3">
            <a:alphaModFix/>
          </a:blip>
          <a:stretch>
            <a:fillRect/>
          </a:stretch>
        </p:blipFill>
        <p:spPr>
          <a:xfrm>
            <a:off x="7908950" y="1661826"/>
            <a:ext cx="3655125" cy="4535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idx="1" type="body"/>
          </p:nvPr>
        </p:nvSpPr>
        <p:spPr>
          <a:xfrm>
            <a:off x="551150" y="1374600"/>
            <a:ext cx="6159300" cy="5160900"/>
          </a:xfrm>
          <a:prstGeom prst="rect">
            <a:avLst/>
          </a:prstGeom>
          <a:noFill/>
          <a:ln>
            <a:noFill/>
          </a:ln>
        </p:spPr>
        <p:txBody>
          <a:bodyPr anchorCtr="0" anchor="t" bIns="45700" lIns="91425" spcFirstLastPara="1" rIns="91425" wrap="square" tIns="45700">
            <a:noAutofit/>
          </a:bodyPr>
          <a:lstStyle/>
          <a:p>
            <a:pPr indent="-311150" lvl="0" marL="457200" rtl="0" algn="l">
              <a:lnSpc>
                <a:spcPct val="150000"/>
              </a:lnSpc>
              <a:spcBef>
                <a:spcPts val="1000"/>
              </a:spcBef>
              <a:spcAft>
                <a:spcPts val="0"/>
              </a:spcAft>
              <a:buSzPts val="1300"/>
              <a:buFont typeface="Arial"/>
              <a:buChar char="●"/>
            </a:pPr>
            <a:r>
              <a:rPr b="1" lang="en-IN" sz="1300"/>
              <a:t>Dual Adapter Training</a:t>
            </a:r>
            <a:r>
              <a:rPr lang="en-IN" sz="1300"/>
              <a:t>:</a:t>
            </a:r>
            <a:endParaRPr sz="1300"/>
          </a:p>
          <a:p>
            <a:pPr indent="-311150" lvl="1" marL="914400" rtl="0" algn="l">
              <a:lnSpc>
                <a:spcPct val="150000"/>
              </a:lnSpc>
              <a:spcBef>
                <a:spcPts val="0"/>
              </a:spcBef>
              <a:spcAft>
                <a:spcPts val="0"/>
              </a:spcAft>
              <a:buSzPts val="1300"/>
              <a:buFont typeface="Arial"/>
              <a:buChar char="○"/>
            </a:pPr>
            <a:r>
              <a:rPr lang="en-IN" sz="1300"/>
              <a:t>LLaMA-3.2B is adapted using two LoRA adapters – one for </a:t>
            </a:r>
            <a:r>
              <a:rPr b="1" lang="en-IN" sz="1300"/>
              <a:t>medical language</a:t>
            </a:r>
            <a:r>
              <a:rPr lang="en-IN" sz="1300"/>
              <a:t> and one for </a:t>
            </a:r>
            <a:r>
              <a:rPr b="1" lang="en-IN" sz="1300"/>
              <a:t>perspective awareness</a:t>
            </a:r>
            <a:r>
              <a:rPr lang="en-IN" sz="1300"/>
              <a:t>.</a:t>
            </a:r>
            <a:endParaRPr sz="1300"/>
          </a:p>
          <a:p>
            <a:pPr indent="-311150" lvl="0" marL="457200" rtl="0" algn="l">
              <a:lnSpc>
                <a:spcPct val="150000"/>
              </a:lnSpc>
              <a:spcBef>
                <a:spcPts val="0"/>
              </a:spcBef>
              <a:spcAft>
                <a:spcPts val="0"/>
              </a:spcAft>
              <a:buSzPts val="1300"/>
              <a:buFont typeface="Arial"/>
              <a:buChar char="●"/>
            </a:pPr>
            <a:r>
              <a:rPr b="1" lang="en-IN" sz="1300"/>
              <a:t>Two-Stage Tuning Pipeline</a:t>
            </a:r>
            <a:r>
              <a:rPr lang="en-IN" sz="1300"/>
              <a:t>:</a:t>
            </a:r>
            <a:endParaRPr sz="1300"/>
          </a:p>
          <a:p>
            <a:pPr indent="-311150" lvl="1" marL="914400" rtl="0" algn="l">
              <a:lnSpc>
                <a:spcPct val="150000"/>
              </a:lnSpc>
              <a:spcBef>
                <a:spcPts val="0"/>
              </a:spcBef>
              <a:spcAft>
                <a:spcPts val="0"/>
              </a:spcAft>
              <a:buSzPts val="1300"/>
              <a:buFont typeface="Arial"/>
              <a:buChar char="○"/>
            </a:pPr>
            <a:r>
              <a:rPr lang="en-IN" sz="1300"/>
              <a:t>Stage 1: Fine-tuning with </a:t>
            </a:r>
            <a:r>
              <a:rPr b="1" lang="en-IN" sz="1300"/>
              <a:t>External DB (Medical QnA)</a:t>
            </a:r>
            <a:r>
              <a:rPr lang="en-IN" sz="1300"/>
              <a:t> using Template</a:t>
            </a:r>
            <a:r>
              <a:rPr lang="en-IN" sz="1300"/>
              <a:t> 1.</a:t>
            </a:r>
            <a:endParaRPr sz="1300"/>
          </a:p>
          <a:p>
            <a:pPr indent="-311150" lvl="1" marL="914400" rtl="0" algn="l">
              <a:lnSpc>
                <a:spcPct val="150000"/>
              </a:lnSpc>
              <a:spcBef>
                <a:spcPts val="0"/>
              </a:spcBef>
              <a:spcAft>
                <a:spcPts val="0"/>
              </a:spcAft>
              <a:buSzPts val="1300"/>
              <a:buFont typeface="Arial"/>
              <a:buChar char="○"/>
            </a:pPr>
            <a:r>
              <a:rPr lang="en-IN" sz="1300"/>
              <a:t>Stage 2: Fine-tuning with </a:t>
            </a:r>
            <a:r>
              <a:rPr b="1" lang="en-IN" sz="1300"/>
              <a:t>PUMA DB (Perspective-QnA)</a:t>
            </a:r>
            <a:r>
              <a:rPr lang="en-IN" sz="1300"/>
              <a:t> using Template 2.</a:t>
            </a:r>
            <a:endParaRPr sz="1300"/>
          </a:p>
          <a:p>
            <a:pPr indent="-311150" lvl="0" marL="457200" rtl="0" algn="l">
              <a:lnSpc>
                <a:spcPct val="150000"/>
              </a:lnSpc>
              <a:spcBef>
                <a:spcPts val="0"/>
              </a:spcBef>
              <a:spcAft>
                <a:spcPts val="0"/>
              </a:spcAft>
              <a:buSzPts val="1300"/>
              <a:buFont typeface="Arial"/>
              <a:buChar char="●"/>
            </a:pPr>
            <a:r>
              <a:rPr b="1" lang="en-IN" sz="1300"/>
              <a:t>Perspective Classifier</a:t>
            </a:r>
            <a:r>
              <a:rPr lang="en-IN" sz="1300"/>
              <a:t>:</a:t>
            </a:r>
            <a:endParaRPr sz="1300"/>
          </a:p>
          <a:p>
            <a:pPr indent="-311150" lvl="1" marL="914400" rtl="0" algn="l">
              <a:lnSpc>
                <a:spcPct val="150000"/>
              </a:lnSpc>
              <a:spcBef>
                <a:spcPts val="0"/>
              </a:spcBef>
              <a:spcAft>
                <a:spcPts val="0"/>
              </a:spcAft>
              <a:buSzPts val="1300"/>
              <a:buFont typeface="Calibri"/>
              <a:buChar char="○"/>
            </a:pPr>
            <a:r>
              <a:rPr lang="en-IN" sz="1300"/>
              <a:t>RoBERTa is fine-tuned to predict perspective of generated summary</a:t>
            </a:r>
            <a:endParaRPr sz="1300"/>
          </a:p>
          <a:p>
            <a:pPr indent="-311150" lvl="1" marL="914400" rtl="0" algn="l">
              <a:lnSpc>
                <a:spcPct val="150000"/>
              </a:lnSpc>
              <a:spcBef>
                <a:spcPts val="0"/>
              </a:spcBef>
              <a:spcAft>
                <a:spcPts val="0"/>
              </a:spcAft>
              <a:buSzPts val="1300"/>
              <a:buFont typeface="Calibri"/>
              <a:buChar char="○"/>
            </a:pPr>
            <a:r>
              <a:rPr lang="en-IN" sz="1300"/>
              <a:t>It contributes in perspective energy (Ep)</a:t>
            </a:r>
            <a:endParaRPr sz="1300"/>
          </a:p>
          <a:p>
            <a:pPr indent="-311150" lvl="0" marL="457200" rtl="0" algn="l">
              <a:lnSpc>
                <a:spcPct val="150000"/>
              </a:lnSpc>
              <a:spcBef>
                <a:spcPts val="0"/>
              </a:spcBef>
              <a:spcAft>
                <a:spcPts val="0"/>
              </a:spcAft>
              <a:buSzPts val="1300"/>
              <a:buFont typeface="Arial"/>
              <a:buChar char="●"/>
            </a:pPr>
            <a:r>
              <a:rPr b="1" lang="en-IN" sz="1300"/>
              <a:t>Combined Loss Function</a:t>
            </a:r>
            <a:r>
              <a:rPr lang="en-IN" sz="1300"/>
              <a:t>:</a:t>
            </a:r>
            <a:endParaRPr sz="1300"/>
          </a:p>
          <a:p>
            <a:pPr indent="-311150" lvl="1" marL="914400" rtl="0" algn="l">
              <a:lnSpc>
                <a:spcPct val="150000"/>
              </a:lnSpc>
              <a:spcBef>
                <a:spcPts val="0"/>
              </a:spcBef>
              <a:spcAft>
                <a:spcPts val="0"/>
              </a:spcAft>
              <a:buSzPts val="1300"/>
              <a:buFont typeface="Arial"/>
              <a:buChar char="○"/>
            </a:pPr>
            <a:r>
              <a:rPr lang="en-IN" sz="1300"/>
              <a:t>Uses both </a:t>
            </a:r>
            <a:r>
              <a:rPr b="1" lang="en-IN" sz="1300"/>
              <a:t>Perspective Loss</a:t>
            </a:r>
            <a:r>
              <a:rPr lang="en-IN" sz="1300"/>
              <a:t> and </a:t>
            </a:r>
            <a:r>
              <a:rPr b="1" lang="en-IN" sz="1300"/>
              <a:t>Cross-Entropy Loss</a:t>
            </a:r>
            <a:r>
              <a:rPr lang="en-IN" sz="1300"/>
              <a:t> for training.</a:t>
            </a:r>
            <a:endParaRPr sz="1300"/>
          </a:p>
          <a:p>
            <a:pPr indent="-311150" lvl="0" marL="457200" rtl="0" algn="l">
              <a:lnSpc>
                <a:spcPct val="150000"/>
              </a:lnSpc>
              <a:spcBef>
                <a:spcPts val="0"/>
              </a:spcBef>
              <a:spcAft>
                <a:spcPts val="0"/>
              </a:spcAft>
              <a:buSzPts val="1300"/>
              <a:buFont typeface="Arial"/>
              <a:buChar char="●"/>
            </a:pPr>
            <a:r>
              <a:rPr b="1" lang="en-IN" sz="1300"/>
              <a:t>Final Output</a:t>
            </a:r>
            <a:r>
              <a:rPr lang="en-IN" sz="1300"/>
              <a:t>:</a:t>
            </a:r>
            <a:endParaRPr sz="1300"/>
          </a:p>
          <a:p>
            <a:pPr indent="-311150" lvl="1" marL="914400" rtl="0" algn="l">
              <a:lnSpc>
                <a:spcPct val="150000"/>
              </a:lnSpc>
              <a:spcBef>
                <a:spcPts val="0"/>
              </a:spcBef>
              <a:spcAft>
                <a:spcPts val="0"/>
              </a:spcAft>
              <a:buSzPts val="1300"/>
              <a:buFont typeface="Arial"/>
              <a:buChar char="○"/>
            </a:pPr>
            <a:r>
              <a:rPr lang="en-IN" sz="1300"/>
              <a:t>Generates summaries grounded in </a:t>
            </a:r>
            <a:r>
              <a:rPr b="1" lang="en-IN" sz="1300"/>
              <a:t>medical accuracy</a:t>
            </a:r>
            <a:r>
              <a:rPr lang="en-IN" sz="1300"/>
              <a:t> and </a:t>
            </a:r>
            <a:r>
              <a:rPr b="1" lang="en-IN" sz="1300"/>
              <a:t>user perspective alignment</a:t>
            </a:r>
            <a:endParaRPr b="1" sz="1300"/>
          </a:p>
        </p:txBody>
      </p:sp>
      <p:sp>
        <p:nvSpPr>
          <p:cNvPr id="215" name="Google Shape;215;p25"/>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Approach 2</a:t>
            </a:r>
            <a:endParaRPr/>
          </a:p>
        </p:txBody>
      </p:sp>
      <p:sp>
        <p:nvSpPr>
          <p:cNvPr id="216" name="Google Shape;216;p25"/>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17" name="Google Shape;217;p25" title="bi-adapter-approach.png"/>
          <p:cNvPicPr preferRelativeResize="0"/>
          <p:nvPr/>
        </p:nvPicPr>
        <p:blipFill>
          <a:blip r:embed="rId3">
            <a:alphaModFix/>
          </a:blip>
          <a:stretch>
            <a:fillRect/>
          </a:stretch>
        </p:blipFill>
        <p:spPr>
          <a:xfrm>
            <a:off x="6608875" y="1738800"/>
            <a:ext cx="5176850" cy="3873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900"/>
              <a:buNone/>
            </a:pPr>
            <a:r>
              <a:rPr lang="en-IN"/>
              <a:t>Approach 2 </a:t>
            </a:r>
            <a:r>
              <a:rPr lang="en-IN"/>
              <a:t>Results</a:t>
            </a:r>
            <a:endParaRPr/>
          </a:p>
        </p:txBody>
      </p:sp>
      <p:sp>
        <p:nvSpPr>
          <p:cNvPr id="223" name="Google Shape;223;p26"/>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24" name="Google Shape;224;p26"/>
          <p:cNvPicPr preferRelativeResize="0"/>
          <p:nvPr/>
        </p:nvPicPr>
        <p:blipFill>
          <a:blip r:embed="rId3">
            <a:alphaModFix/>
          </a:blip>
          <a:stretch>
            <a:fillRect/>
          </a:stretch>
        </p:blipFill>
        <p:spPr>
          <a:xfrm>
            <a:off x="6335875" y="4050175"/>
            <a:ext cx="5686524" cy="1278750"/>
          </a:xfrm>
          <a:prstGeom prst="rect">
            <a:avLst/>
          </a:prstGeom>
          <a:noFill/>
          <a:ln>
            <a:noFill/>
          </a:ln>
        </p:spPr>
      </p:pic>
      <p:pic>
        <p:nvPicPr>
          <p:cNvPr id="225" name="Google Shape;225;p26"/>
          <p:cNvPicPr preferRelativeResize="0"/>
          <p:nvPr/>
        </p:nvPicPr>
        <p:blipFill>
          <a:blip r:embed="rId4">
            <a:alphaModFix/>
          </a:blip>
          <a:stretch>
            <a:fillRect/>
          </a:stretch>
        </p:blipFill>
        <p:spPr>
          <a:xfrm>
            <a:off x="7729839" y="2061900"/>
            <a:ext cx="2677050" cy="1757500"/>
          </a:xfrm>
          <a:prstGeom prst="rect">
            <a:avLst/>
          </a:prstGeom>
          <a:noFill/>
          <a:ln>
            <a:noFill/>
          </a:ln>
        </p:spPr>
      </p:pic>
      <p:sp>
        <p:nvSpPr>
          <p:cNvPr id="226" name="Google Shape;226;p26"/>
          <p:cNvSpPr txBox="1"/>
          <p:nvPr>
            <p:ph idx="1" type="body"/>
          </p:nvPr>
        </p:nvSpPr>
        <p:spPr>
          <a:xfrm>
            <a:off x="884350" y="1596125"/>
            <a:ext cx="5872200" cy="47991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200"/>
              </a:spcBef>
              <a:spcAft>
                <a:spcPts val="0"/>
              </a:spcAft>
              <a:buNone/>
            </a:pPr>
            <a:r>
              <a:rPr b="1" lang="en-IN" sz="1100">
                <a:latin typeface="Arial"/>
                <a:ea typeface="Arial"/>
                <a:cs typeface="Arial"/>
                <a:sym typeface="Arial"/>
              </a:rPr>
              <a:t>Observations:</a:t>
            </a:r>
            <a:endParaRPr b="1" sz="1100">
              <a:latin typeface="Arial"/>
              <a:ea typeface="Arial"/>
              <a:cs typeface="Arial"/>
              <a:sym typeface="Arial"/>
            </a:endParaRPr>
          </a:p>
          <a:p>
            <a:pPr indent="-298450" lvl="0" marL="457200" rtl="0" algn="l">
              <a:lnSpc>
                <a:spcPct val="150000"/>
              </a:lnSpc>
              <a:spcBef>
                <a:spcPts val="1200"/>
              </a:spcBef>
              <a:spcAft>
                <a:spcPts val="0"/>
              </a:spcAft>
              <a:buSzPts val="1100"/>
              <a:buFont typeface="Arial"/>
              <a:buChar char="●"/>
            </a:pPr>
            <a:r>
              <a:rPr lang="en-IN" sz="1100">
                <a:latin typeface="Arial"/>
                <a:ea typeface="Arial"/>
                <a:cs typeface="Arial"/>
                <a:sym typeface="Arial"/>
              </a:rPr>
              <a:t>Two-stage adapter-tuned model outperforms Baseline 2 in all metrics: ROUGE-1 improves from 3.23 to 83.72, BLEU-4 from 0.0018 to 0.7875.</a:t>
            </a:r>
            <a:br>
              <a:rPr lang="en-IN" sz="1100">
                <a:latin typeface="Arial"/>
                <a:ea typeface="Arial"/>
                <a:cs typeface="Arial"/>
                <a:sym typeface="Arial"/>
              </a:rPr>
            </a:br>
            <a:endParaRPr sz="1100">
              <a:latin typeface="Arial"/>
              <a:ea typeface="Arial"/>
              <a:cs typeface="Arial"/>
              <a:sym typeface="Arial"/>
            </a:endParaRPr>
          </a:p>
          <a:p>
            <a:pPr indent="-298450" lvl="0" marL="457200" rtl="0" algn="l">
              <a:lnSpc>
                <a:spcPct val="150000"/>
              </a:lnSpc>
              <a:spcBef>
                <a:spcPts val="0"/>
              </a:spcBef>
              <a:spcAft>
                <a:spcPts val="0"/>
              </a:spcAft>
              <a:buSzPts val="1100"/>
              <a:buFont typeface="Arial"/>
              <a:buChar char="●"/>
            </a:pPr>
            <a:r>
              <a:rPr lang="en-IN" sz="1100">
                <a:latin typeface="Arial"/>
                <a:ea typeface="Arial"/>
                <a:cs typeface="Arial"/>
                <a:sym typeface="Arial"/>
              </a:rPr>
              <a:t>Significant improvement in perspective adherence (0.8716) via classifier-guided loss.</a:t>
            </a:r>
            <a:br>
              <a:rPr lang="en-IN" sz="1100">
                <a:latin typeface="Arial"/>
                <a:ea typeface="Arial"/>
                <a:cs typeface="Arial"/>
                <a:sym typeface="Arial"/>
              </a:rPr>
            </a:br>
            <a:endParaRPr sz="1100">
              <a:latin typeface="Arial"/>
              <a:ea typeface="Arial"/>
              <a:cs typeface="Arial"/>
              <a:sym typeface="Arial"/>
            </a:endParaRPr>
          </a:p>
          <a:p>
            <a:pPr indent="-298450" lvl="0" marL="457200" rtl="0" algn="l">
              <a:lnSpc>
                <a:spcPct val="150000"/>
              </a:lnSpc>
              <a:spcBef>
                <a:spcPts val="0"/>
              </a:spcBef>
              <a:spcAft>
                <a:spcPts val="0"/>
              </a:spcAft>
              <a:buSzPts val="1100"/>
              <a:buFont typeface="Arial"/>
              <a:buChar char="●"/>
            </a:pPr>
            <a:r>
              <a:rPr lang="en-IN" sz="1100">
                <a:latin typeface="Arial"/>
                <a:ea typeface="Arial"/>
                <a:cs typeface="Arial"/>
                <a:sym typeface="Arial"/>
              </a:rPr>
              <a:t>Near-perfect generation for CAUSE and QUESTION with BLEU, ROUGE, and BERTScore reaching 1.0.</a:t>
            </a:r>
            <a:br>
              <a:rPr lang="en-IN" sz="1100">
                <a:latin typeface="Arial"/>
                <a:ea typeface="Arial"/>
                <a:cs typeface="Arial"/>
                <a:sym typeface="Arial"/>
              </a:rPr>
            </a:br>
            <a:endParaRPr sz="1100">
              <a:latin typeface="Arial"/>
              <a:ea typeface="Arial"/>
              <a:cs typeface="Arial"/>
              <a:sym typeface="Arial"/>
            </a:endParaRPr>
          </a:p>
          <a:p>
            <a:pPr indent="-298450" lvl="0" marL="457200" rtl="0" algn="l">
              <a:lnSpc>
                <a:spcPct val="150000"/>
              </a:lnSpc>
              <a:spcBef>
                <a:spcPts val="0"/>
              </a:spcBef>
              <a:spcAft>
                <a:spcPts val="0"/>
              </a:spcAft>
              <a:buSzPts val="1100"/>
              <a:buFont typeface="Arial"/>
              <a:buChar char="●"/>
            </a:pPr>
            <a:r>
              <a:rPr lang="en-IN" sz="1100">
                <a:latin typeface="Arial"/>
                <a:ea typeface="Arial"/>
                <a:cs typeface="Arial"/>
                <a:sym typeface="Arial"/>
              </a:rPr>
              <a:t>High overlap in train/test splits (30%) and validation/test duplication may skew results, to be addressed with stricter dataset separation.</a:t>
            </a:r>
            <a:endParaRPr b="1" sz="11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Approach 3</a:t>
            </a:r>
            <a:endParaRPr/>
          </a:p>
        </p:txBody>
      </p:sp>
      <p:sp>
        <p:nvSpPr>
          <p:cNvPr id="232" name="Google Shape;232;p27"/>
          <p:cNvSpPr txBox="1"/>
          <p:nvPr>
            <p:ph idx="1" type="body"/>
          </p:nvPr>
        </p:nvSpPr>
        <p:spPr>
          <a:xfrm>
            <a:off x="845125" y="2564000"/>
            <a:ext cx="6409800" cy="2255700"/>
          </a:xfrm>
          <a:prstGeom prst="rect">
            <a:avLst/>
          </a:prstGeom>
          <a:noFill/>
          <a:ln>
            <a:noFill/>
          </a:ln>
        </p:spPr>
        <p:txBody>
          <a:bodyPr anchorCtr="0" anchor="t" bIns="45700" lIns="91425" spcFirstLastPara="1" rIns="91425" wrap="square" tIns="45700">
            <a:noAutofit/>
          </a:bodyPr>
          <a:lstStyle/>
          <a:p>
            <a:pPr indent="-323850" lvl="0" marL="457200" rtl="0" algn="l">
              <a:lnSpc>
                <a:spcPct val="150000"/>
              </a:lnSpc>
              <a:spcBef>
                <a:spcPts val="1000"/>
              </a:spcBef>
              <a:spcAft>
                <a:spcPts val="0"/>
              </a:spcAft>
              <a:buSzPts val="1500"/>
              <a:buFont typeface="Arial"/>
              <a:buChar char="●"/>
            </a:pPr>
            <a:r>
              <a:rPr b="1" lang="en-IN" sz="1500"/>
              <a:t>Perspective Aware </a:t>
            </a:r>
            <a:r>
              <a:rPr b="1" lang="en-IN" sz="1500"/>
              <a:t>Adapter Training</a:t>
            </a:r>
            <a:r>
              <a:rPr lang="en-IN" sz="1500"/>
              <a:t>:</a:t>
            </a:r>
            <a:endParaRPr sz="1500"/>
          </a:p>
          <a:p>
            <a:pPr indent="-323850" lvl="1" marL="914400" rtl="0" algn="l">
              <a:lnSpc>
                <a:spcPct val="150000"/>
              </a:lnSpc>
              <a:spcBef>
                <a:spcPts val="0"/>
              </a:spcBef>
              <a:spcAft>
                <a:spcPts val="0"/>
              </a:spcAft>
              <a:buSzPts val="1500"/>
              <a:buFont typeface="Arial"/>
              <a:buChar char="○"/>
            </a:pPr>
            <a:r>
              <a:rPr lang="en-IN" sz="1500"/>
              <a:t>LLaMA-3.2B is adapted using LoRA adapters, each tailored for a </a:t>
            </a:r>
            <a:r>
              <a:rPr b="1" lang="en-IN" sz="1500"/>
              <a:t>perspective individually</a:t>
            </a:r>
            <a:r>
              <a:rPr lang="en-IN" sz="1500"/>
              <a:t>.</a:t>
            </a:r>
            <a:endParaRPr sz="1500"/>
          </a:p>
          <a:p>
            <a:pPr indent="-323850" lvl="0" marL="457200" rtl="0" algn="l">
              <a:lnSpc>
                <a:spcPct val="150000"/>
              </a:lnSpc>
              <a:spcBef>
                <a:spcPts val="0"/>
              </a:spcBef>
              <a:spcAft>
                <a:spcPts val="0"/>
              </a:spcAft>
              <a:buSzPts val="1500"/>
              <a:buFont typeface="Arial"/>
              <a:buChar char="●"/>
            </a:pPr>
            <a:r>
              <a:rPr b="1" lang="en-IN" sz="1500"/>
              <a:t>Loss Function</a:t>
            </a:r>
            <a:r>
              <a:rPr lang="en-IN" sz="1500"/>
              <a:t>:</a:t>
            </a:r>
            <a:endParaRPr sz="1500"/>
          </a:p>
          <a:p>
            <a:pPr indent="-323850" lvl="1" marL="914400" rtl="0" algn="l">
              <a:lnSpc>
                <a:spcPct val="150000"/>
              </a:lnSpc>
              <a:spcBef>
                <a:spcPts val="0"/>
              </a:spcBef>
              <a:spcAft>
                <a:spcPts val="0"/>
              </a:spcAft>
              <a:buSzPts val="1500"/>
              <a:buFont typeface="Arial"/>
              <a:buChar char="○"/>
            </a:pPr>
            <a:r>
              <a:rPr lang="en-IN" sz="1500"/>
              <a:t>Uses </a:t>
            </a:r>
            <a:r>
              <a:rPr b="1" lang="en-IN" sz="1500"/>
              <a:t>Cross-Entropy Loss</a:t>
            </a:r>
            <a:r>
              <a:rPr lang="en-IN" sz="1500"/>
              <a:t> for training.</a:t>
            </a:r>
            <a:endParaRPr sz="1500"/>
          </a:p>
          <a:p>
            <a:pPr indent="-323850" lvl="0" marL="457200" rtl="0" algn="l">
              <a:lnSpc>
                <a:spcPct val="150000"/>
              </a:lnSpc>
              <a:spcBef>
                <a:spcPts val="0"/>
              </a:spcBef>
              <a:spcAft>
                <a:spcPts val="0"/>
              </a:spcAft>
              <a:buSzPts val="1500"/>
              <a:buFont typeface="Arial"/>
              <a:buChar char="●"/>
            </a:pPr>
            <a:r>
              <a:rPr b="1" lang="en-IN" sz="1500"/>
              <a:t>Final Output</a:t>
            </a:r>
            <a:r>
              <a:rPr lang="en-IN" sz="1500"/>
              <a:t>:</a:t>
            </a:r>
            <a:endParaRPr sz="1500"/>
          </a:p>
          <a:p>
            <a:pPr indent="-323850" lvl="1" marL="914400" rtl="0" algn="l">
              <a:lnSpc>
                <a:spcPct val="150000"/>
              </a:lnSpc>
              <a:spcBef>
                <a:spcPts val="0"/>
              </a:spcBef>
              <a:spcAft>
                <a:spcPts val="0"/>
              </a:spcAft>
              <a:buSzPts val="1500"/>
              <a:buFont typeface="Arial"/>
              <a:buChar char="○"/>
            </a:pPr>
            <a:r>
              <a:rPr lang="en-IN" sz="1500"/>
              <a:t>Generates summaries based on </a:t>
            </a:r>
            <a:r>
              <a:rPr b="1" lang="en-IN" sz="1500"/>
              <a:t>specific perspective alignment</a:t>
            </a:r>
            <a:endParaRPr sz="1500"/>
          </a:p>
        </p:txBody>
      </p:sp>
      <p:sp>
        <p:nvSpPr>
          <p:cNvPr id="233" name="Google Shape;233;p27"/>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34" name="Google Shape;234;p27" title="bi-adapter.png"/>
          <p:cNvPicPr preferRelativeResize="0"/>
          <p:nvPr/>
        </p:nvPicPr>
        <p:blipFill>
          <a:blip r:embed="rId3">
            <a:alphaModFix/>
          </a:blip>
          <a:stretch>
            <a:fillRect/>
          </a:stretch>
        </p:blipFill>
        <p:spPr>
          <a:xfrm>
            <a:off x="5389325" y="1588362"/>
            <a:ext cx="6409800" cy="3048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900"/>
              <a:buNone/>
            </a:pPr>
            <a:r>
              <a:rPr lang="en-IN"/>
              <a:t>Approach 3 Results</a:t>
            </a:r>
            <a:endParaRPr/>
          </a:p>
        </p:txBody>
      </p:sp>
      <p:sp>
        <p:nvSpPr>
          <p:cNvPr id="240" name="Google Shape;240;p28"/>
          <p:cNvSpPr txBox="1"/>
          <p:nvPr>
            <p:ph idx="1" type="body"/>
          </p:nvPr>
        </p:nvSpPr>
        <p:spPr>
          <a:xfrm>
            <a:off x="845126" y="1381175"/>
            <a:ext cx="5374200" cy="4799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IN" sz="1500"/>
              <a:t>Observations:</a:t>
            </a:r>
            <a:endParaRPr sz="1500"/>
          </a:p>
          <a:p>
            <a:pPr indent="-323850" lvl="0" marL="457200" rtl="0" algn="l">
              <a:lnSpc>
                <a:spcPct val="100000"/>
              </a:lnSpc>
              <a:spcBef>
                <a:spcPts val="0"/>
              </a:spcBef>
              <a:spcAft>
                <a:spcPts val="0"/>
              </a:spcAft>
              <a:buSzPts val="1500"/>
              <a:buChar char="●"/>
            </a:pPr>
            <a:r>
              <a:rPr lang="en-IN" sz="1500"/>
              <a:t>The perspective-specific adapter-tuned model significantly outperforms Baseline Model 2 across all evaluation metrics.</a:t>
            </a:r>
            <a:endParaRPr sz="1500"/>
          </a:p>
          <a:p>
            <a:pPr indent="0" lvl="0" marL="457200" rtl="0" algn="l">
              <a:lnSpc>
                <a:spcPct val="100000"/>
              </a:lnSpc>
              <a:spcBef>
                <a:spcPts val="0"/>
              </a:spcBef>
              <a:spcAft>
                <a:spcPts val="0"/>
              </a:spcAft>
              <a:buNone/>
            </a:pPr>
            <a:r>
              <a:rPr lang="en-IN" sz="1500"/>
              <a:t>ROUGE-1 improves from 3.23 to 80.82, ROUGE-2 from 0.10</a:t>
            </a:r>
            <a:endParaRPr sz="1500"/>
          </a:p>
          <a:p>
            <a:pPr indent="0" lvl="0" marL="457200" rtl="0" algn="l">
              <a:lnSpc>
                <a:spcPct val="100000"/>
              </a:lnSpc>
              <a:spcBef>
                <a:spcPts val="0"/>
              </a:spcBef>
              <a:spcAft>
                <a:spcPts val="0"/>
              </a:spcAft>
              <a:buNone/>
            </a:pPr>
            <a:r>
              <a:rPr lang="en-IN" sz="1500"/>
              <a:t>to 77.02, and ROUGE-L from 3.02 to 80.51, indicating stronger n-gram and sequence-level alignment.</a:t>
            </a:r>
            <a:endParaRPr sz="1500"/>
          </a:p>
          <a:p>
            <a:pPr indent="0" lvl="0" marL="457200" rtl="0" algn="l">
              <a:lnSpc>
                <a:spcPct val="100000"/>
              </a:lnSpc>
              <a:spcBef>
                <a:spcPts val="0"/>
              </a:spcBef>
              <a:spcAft>
                <a:spcPts val="0"/>
              </a:spcAft>
              <a:buNone/>
            </a:pPr>
            <a:r>
              <a:t/>
            </a:r>
            <a:endParaRPr sz="1500"/>
          </a:p>
          <a:p>
            <a:pPr indent="-323850" lvl="0" marL="457200" rtl="0" algn="l">
              <a:lnSpc>
                <a:spcPct val="100000"/>
              </a:lnSpc>
              <a:spcBef>
                <a:spcPts val="0"/>
              </a:spcBef>
              <a:spcAft>
                <a:spcPts val="0"/>
              </a:spcAft>
              <a:buSzPts val="1500"/>
              <a:buChar char="●"/>
            </a:pPr>
            <a:r>
              <a:rPr lang="en-IN" sz="1500"/>
              <a:t>BLEU score sees a dramatic increase from 0.0018 (BLEU-4)</a:t>
            </a:r>
            <a:endParaRPr sz="1500"/>
          </a:p>
          <a:p>
            <a:pPr indent="0" lvl="0" marL="457200" rtl="0" algn="l">
              <a:lnSpc>
                <a:spcPct val="100000"/>
              </a:lnSpc>
              <a:spcBef>
                <a:spcPts val="0"/>
              </a:spcBef>
              <a:spcAft>
                <a:spcPts val="0"/>
              </a:spcAft>
              <a:buNone/>
            </a:pPr>
            <a:r>
              <a:rPr lang="en-IN" sz="1500"/>
              <a:t>to 0.7549, showing improved fluency and lexical similarity.</a:t>
            </a:r>
            <a:endParaRPr sz="1500"/>
          </a:p>
          <a:p>
            <a:pPr indent="0" lvl="0" marL="457200" rtl="0" algn="l">
              <a:lnSpc>
                <a:spcPct val="100000"/>
              </a:lnSpc>
              <a:spcBef>
                <a:spcPts val="0"/>
              </a:spcBef>
              <a:spcAft>
                <a:spcPts val="0"/>
              </a:spcAft>
              <a:buNone/>
            </a:pPr>
            <a:r>
              <a:rPr lang="en-IN" sz="1500"/>
              <a:t>METEOR also improves implicitly, despite being absent in the</a:t>
            </a:r>
            <a:endParaRPr sz="1500"/>
          </a:p>
          <a:p>
            <a:pPr indent="0" lvl="0" marL="457200" rtl="0" algn="l">
              <a:lnSpc>
                <a:spcPct val="100000"/>
              </a:lnSpc>
              <a:spcBef>
                <a:spcPts val="0"/>
              </a:spcBef>
              <a:spcAft>
                <a:spcPts val="0"/>
              </a:spcAft>
              <a:buNone/>
            </a:pPr>
            <a:r>
              <a:rPr lang="en-IN" sz="1500"/>
              <a:t>current run</a:t>
            </a:r>
            <a:endParaRPr sz="1500"/>
          </a:p>
          <a:p>
            <a:pPr indent="0" lvl="0" marL="0" rtl="0" algn="l">
              <a:lnSpc>
                <a:spcPct val="100000"/>
              </a:lnSpc>
              <a:spcBef>
                <a:spcPts val="0"/>
              </a:spcBef>
              <a:spcAft>
                <a:spcPts val="0"/>
              </a:spcAft>
              <a:buNone/>
            </a:pPr>
            <a:r>
              <a:t/>
            </a:r>
            <a:endParaRPr sz="1500"/>
          </a:p>
          <a:p>
            <a:pPr indent="-323850" lvl="0" marL="457200" rtl="0" algn="l">
              <a:lnSpc>
                <a:spcPct val="100000"/>
              </a:lnSpc>
              <a:spcBef>
                <a:spcPts val="0"/>
              </a:spcBef>
              <a:spcAft>
                <a:spcPts val="0"/>
              </a:spcAft>
              <a:buSzPts val="1500"/>
              <a:buChar char="●"/>
            </a:pPr>
            <a:r>
              <a:rPr lang="en-IN" sz="1500"/>
              <a:t>While BERTScore (F1) slightly drops from 0.7866 to 0.7633,</a:t>
            </a:r>
            <a:endParaRPr sz="1500"/>
          </a:p>
          <a:p>
            <a:pPr indent="0" lvl="0" marL="457200" rtl="0" algn="l">
              <a:lnSpc>
                <a:spcPct val="100000"/>
              </a:lnSpc>
              <a:spcBef>
                <a:spcPts val="0"/>
              </a:spcBef>
              <a:spcAft>
                <a:spcPts val="0"/>
              </a:spcAft>
              <a:buNone/>
            </a:pPr>
            <a:r>
              <a:rPr lang="en-IN" sz="1500"/>
              <a:t>this is offset by massive gains in extractive metrics and perspective control.</a:t>
            </a:r>
            <a:endParaRPr sz="1500"/>
          </a:p>
          <a:p>
            <a:pPr indent="0" lvl="0" marL="914400" rtl="0" algn="l">
              <a:lnSpc>
                <a:spcPct val="100000"/>
              </a:lnSpc>
              <a:spcBef>
                <a:spcPts val="0"/>
              </a:spcBef>
              <a:spcAft>
                <a:spcPts val="0"/>
              </a:spcAft>
              <a:buNone/>
            </a:pPr>
            <a:r>
              <a:t/>
            </a:r>
            <a:endParaRPr sz="1500"/>
          </a:p>
          <a:p>
            <a:pPr indent="-323850" lvl="0" marL="457200" rtl="0" algn="l">
              <a:lnSpc>
                <a:spcPct val="100000"/>
              </a:lnSpc>
              <a:spcBef>
                <a:spcPts val="0"/>
              </a:spcBef>
              <a:spcAft>
                <a:spcPts val="0"/>
              </a:spcAft>
              <a:buSzPts val="1500"/>
              <a:buChar char="●"/>
            </a:pPr>
            <a:r>
              <a:rPr lang="en-IN" sz="1500"/>
              <a:t>Perspective adherence increases from implicit handling in the baseline to an explicit and high value of 0.8439, demonstrating the classifier-guided loss’s effectiveness in maintaining view-point alignment.</a:t>
            </a:r>
            <a:endParaRPr sz="1500"/>
          </a:p>
          <a:p>
            <a:pPr indent="0" lvl="0" marL="0" rtl="0" algn="l">
              <a:lnSpc>
                <a:spcPct val="100000"/>
              </a:lnSpc>
              <a:spcBef>
                <a:spcPts val="0"/>
              </a:spcBef>
              <a:spcAft>
                <a:spcPts val="0"/>
              </a:spcAft>
              <a:buSzPts val="1800"/>
              <a:buNone/>
            </a:pPr>
            <a:r>
              <a:t/>
            </a:r>
            <a:endParaRPr sz="1500"/>
          </a:p>
        </p:txBody>
      </p:sp>
      <p:sp>
        <p:nvSpPr>
          <p:cNvPr id="241" name="Google Shape;241;p28"/>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42" name="Google Shape;242;p28"/>
          <p:cNvPicPr preferRelativeResize="0"/>
          <p:nvPr/>
        </p:nvPicPr>
        <p:blipFill>
          <a:blip r:embed="rId3">
            <a:alphaModFix/>
          </a:blip>
          <a:stretch>
            <a:fillRect/>
          </a:stretch>
        </p:blipFill>
        <p:spPr>
          <a:xfrm>
            <a:off x="6379872" y="1494063"/>
            <a:ext cx="4896675" cy="4560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9"/>
          <p:cNvSpPr txBox="1"/>
          <p:nvPr>
            <p:ph type="title"/>
          </p:nvPr>
        </p:nvSpPr>
        <p:spPr>
          <a:xfrm>
            <a:off x="845127" y="365760"/>
            <a:ext cx="9445500" cy="82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a:t>Results and Conclusion </a:t>
            </a:r>
            <a:endParaRPr/>
          </a:p>
        </p:txBody>
      </p:sp>
      <p:sp>
        <p:nvSpPr>
          <p:cNvPr id="248" name="Google Shape;248;p29"/>
          <p:cNvSpPr txBox="1"/>
          <p:nvPr>
            <p:ph idx="1" type="body"/>
          </p:nvPr>
        </p:nvSpPr>
        <p:spPr>
          <a:xfrm>
            <a:off x="845126" y="1381175"/>
            <a:ext cx="7146000" cy="47991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15000"/>
              </a:lnSpc>
              <a:spcBef>
                <a:spcPts val="1200"/>
              </a:spcBef>
              <a:spcAft>
                <a:spcPts val="0"/>
              </a:spcAft>
              <a:buClr>
                <a:schemeClr val="dk1"/>
              </a:buClr>
              <a:buSzPts val="275"/>
              <a:buFont typeface="Arial"/>
              <a:buNone/>
            </a:pPr>
            <a:r>
              <a:rPr b="1" lang="en-IN" sz="5674">
                <a:latin typeface="Arial"/>
                <a:ea typeface="Arial"/>
                <a:cs typeface="Arial"/>
                <a:sym typeface="Arial"/>
              </a:rPr>
              <a:t>Key Findings:</a:t>
            </a:r>
            <a:endParaRPr b="1" sz="5674">
              <a:latin typeface="Arial"/>
              <a:ea typeface="Arial"/>
              <a:cs typeface="Arial"/>
              <a:sym typeface="Arial"/>
            </a:endParaRPr>
          </a:p>
          <a:p>
            <a:pPr indent="-318688" lvl="0" marL="457200" rtl="0" algn="just">
              <a:lnSpc>
                <a:spcPct val="115000"/>
              </a:lnSpc>
              <a:spcBef>
                <a:spcPts val="1200"/>
              </a:spcBef>
              <a:spcAft>
                <a:spcPts val="0"/>
              </a:spcAft>
              <a:buSzPct val="100000"/>
              <a:buFont typeface="Arial"/>
              <a:buChar char="●"/>
            </a:pPr>
            <a:r>
              <a:rPr b="1" lang="en-IN" sz="5674">
                <a:latin typeface="Arial"/>
                <a:ea typeface="Arial"/>
                <a:cs typeface="Arial"/>
                <a:sym typeface="Arial"/>
              </a:rPr>
              <a:t>Model Performance:</a:t>
            </a:r>
            <a:endParaRPr b="1" sz="5674">
              <a:latin typeface="Arial"/>
              <a:ea typeface="Arial"/>
              <a:cs typeface="Arial"/>
              <a:sym typeface="Arial"/>
            </a:endParaRPr>
          </a:p>
          <a:p>
            <a:pPr indent="-318688" lvl="1" marL="914400" rtl="0" algn="just">
              <a:lnSpc>
                <a:spcPct val="115000"/>
              </a:lnSpc>
              <a:spcBef>
                <a:spcPts val="0"/>
              </a:spcBef>
              <a:spcAft>
                <a:spcPts val="0"/>
              </a:spcAft>
              <a:buSzPct val="100000"/>
              <a:buFont typeface="Arial"/>
              <a:buChar char="○"/>
            </a:pPr>
            <a:r>
              <a:rPr lang="en-IN" sz="5674">
                <a:latin typeface="Arial"/>
                <a:ea typeface="Arial"/>
                <a:cs typeface="Arial"/>
                <a:sym typeface="Arial"/>
              </a:rPr>
              <a:t>The Tiny LLaMA 3.2B-Instruct model demonstrated superior performance in perspective-aware healthcare summarization, achieving the highest ROUGE, BLEU, and BERTScore metrics among the evaluated models.​</a:t>
            </a:r>
            <a:endParaRPr sz="5674">
              <a:latin typeface="Arial"/>
              <a:ea typeface="Arial"/>
              <a:cs typeface="Arial"/>
              <a:sym typeface="Arial"/>
            </a:endParaRPr>
          </a:p>
          <a:p>
            <a:pPr indent="-318688" lvl="0" marL="457200" rtl="0" algn="just">
              <a:lnSpc>
                <a:spcPct val="115000"/>
              </a:lnSpc>
              <a:spcBef>
                <a:spcPts val="0"/>
              </a:spcBef>
              <a:spcAft>
                <a:spcPts val="0"/>
              </a:spcAft>
              <a:buSzPct val="100000"/>
              <a:buFont typeface="Arial"/>
              <a:buChar char="●"/>
            </a:pPr>
            <a:r>
              <a:rPr b="1" lang="en-IN" sz="5674">
                <a:latin typeface="Arial"/>
                <a:ea typeface="Arial"/>
                <a:cs typeface="Arial"/>
                <a:sym typeface="Arial"/>
              </a:rPr>
              <a:t>Innovative Approaches:</a:t>
            </a:r>
            <a:endParaRPr b="1" sz="5674">
              <a:latin typeface="Arial"/>
              <a:ea typeface="Arial"/>
              <a:cs typeface="Arial"/>
              <a:sym typeface="Arial"/>
            </a:endParaRPr>
          </a:p>
          <a:p>
            <a:pPr indent="-318688" lvl="1" marL="914400" rtl="0" algn="just">
              <a:lnSpc>
                <a:spcPct val="115000"/>
              </a:lnSpc>
              <a:spcBef>
                <a:spcPts val="0"/>
              </a:spcBef>
              <a:spcAft>
                <a:spcPts val="0"/>
              </a:spcAft>
              <a:buSzPct val="100000"/>
              <a:buFont typeface="Arial"/>
              <a:buChar char="○"/>
            </a:pPr>
            <a:r>
              <a:rPr lang="en-IN" sz="5674">
                <a:latin typeface="Arial"/>
                <a:ea typeface="Arial"/>
                <a:cs typeface="Arial"/>
                <a:sym typeface="Arial"/>
              </a:rPr>
              <a:t>Incorporating classifier-guided energy-based loss functions and prefix tuning enhanced perspective alignment and summary quality.​</a:t>
            </a:r>
            <a:endParaRPr sz="5674">
              <a:latin typeface="Arial"/>
              <a:ea typeface="Arial"/>
              <a:cs typeface="Arial"/>
              <a:sym typeface="Arial"/>
            </a:endParaRPr>
          </a:p>
          <a:p>
            <a:pPr indent="-318688" lvl="0" marL="457200" rtl="0" algn="just">
              <a:lnSpc>
                <a:spcPct val="115000"/>
              </a:lnSpc>
              <a:spcBef>
                <a:spcPts val="0"/>
              </a:spcBef>
              <a:spcAft>
                <a:spcPts val="0"/>
              </a:spcAft>
              <a:buSzPct val="100000"/>
              <a:buFont typeface="Arial"/>
              <a:buChar char="●"/>
            </a:pPr>
            <a:r>
              <a:rPr b="1" lang="en-IN" sz="5674">
                <a:latin typeface="Arial"/>
                <a:ea typeface="Arial"/>
                <a:cs typeface="Arial"/>
                <a:sym typeface="Arial"/>
              </a:rPr>
              <a:t>Model Comparisons:</a:t>
            </a:r>
            <a:endParaRPr b="1" sz="5674">
              <a:latin typeface="Arial"/>
              <a:ea typeface="Arial"/>
              <a:cs typeface="Arial"/>
              <a:sym typeface="Arial"/>
            </a:endParaRPr>
          </a:p>
          <a:p>
            <a:pPr indent="-318688" lvl="1" marL="914400" rtl="0" algn="just">
              <a:lnSpc>
                <a:spcPct val="115000"/>
              </a:lnSpc>
              <a:spcBef>
                <a:spcPts val="0"/>
              </a:spcBef>
              <a:spcAft>
                <a:spcPts val="0"/>
              </a:spcAft>
              <a:buSzPct val="100000"/>
              <a:buFont typeface="Arial"/>
              <a:buChar char="○"/>
            </a:pPr>
            <a:r>
              <a:rPr lang="en-IN" sz="5674">
                <a:latin typeface="Arial"/>
                <a:ea typeface="Arial"/>
                <a:cs typeface="Arial"/>
                <a:sym typeface="Arial"/>
              </a:rPr>
              <a:t>While Model 4 (Two-Stage Adapter Tuning) and Model 5 (Perspective-Specific Adapters) showed promising results, they did not surpass Model 3 in overall performance.​</a:t>
            </a:r>
            <a:endParaRPr sz="5674">
              <a:latin typeface="Arial"/>
              <a:ea typeface="Arial"/>
              <a:cs typeface="Arial"/>
              <a:sym typeface="Arial"/>
            </a:endParaRPr>
          </a:p>
          <a:p>
            <a:pPr indent="0" lvl="0" marL="0" rtl="0" algn="just">
              <a:lnSpc>
                <a:spcPct val="115000"/>
              </a:lnSpc>
              <a:spcBef>
                <a:spcPts val="1200"/>
              </a:spcBef>
              <a:spcAft>
                <a:spcPts val="0"/>
              </a:spcAft>
              <a:buClr>
                <a:schemeClr val="dk1"/>
              </a:buClr>
              <a:buSzPts val="275"/>
              <a:buFont typeface="Arial"/>
              <a:buNone/>
            </a:pPr>
            <a:r>
              <a:rPr b="1" lang="en-IN" sz="5674">
                <a:latin typeface="Arial"/>
                <a:ea typeface="Arial"/>
                <a:cs typeface="Arial"/>
                <a:sym typeface="Arial"/>
              </a:rPr>
              <a:t>Implications:</a:t>
            </a:r>
            <a:endParaRPr b="1" sz="5674">
              <a:latin typeface="Arial"/>
              <a:ea typeface="Arial"/>
              <a:cs typeface="Arial"/>
              <a:sym typeface="Arial"/>
            </a:endParaRPr>
          </a:p>
          <a:p>
            <a:pPr indent="-318688" lvl="0" marL="457200" rtl="0" algn="just">
              <a:lnSpc>
                <a:spcPct val="115000"/>
              </a:lnSpc>
              <a:spcBef>
                <a:spcPts val="1200"/>
              </a:spcBef>
              <a:spcAft>
                <a:spcPts val="0"/>
              </a:spcAft>
              <a:buSzPct val="100000"/>
              <a:buFont typeface="Arial"/>
              <a:buChar char="●"/>
            </a:pPr>
            <a:r>
              <a:rPr b="1" lang="en-IN" sz="5674">
                <a:latin typeface="Arial"/>
                <a:ea typeface="Arial"/>
                <a:cs typeface="Arial"/>
                <a:sym typeface="Arial"/>
              </a:rPr>
              <a:t>Advancements in Healthcare NLP:</a:t>
            </a:r>
            <a:endParaRPr b="1" sz="5674">
              <a:latin typeface="Arial"/>
              <a:ea typeface="Arial"/>
              <a:cs typeface="Arial"/>
              <a:sym typeface="Arial"/>
            </a:endParaRPr>
          </a:p>
          <a:p>
            <a:pPr indent="-318688" lvl="1" marL="914400" rtl="0" algn="just">
              <a:lnSpc>
                <a:spcPct val="115000"/>
              </a:lnSpc>
              <a:spcBef>
                <a:spcPts val="0"/>
              </a:spcBef>
              <a:spcAft>
                <a:spcPts val="0"/>
              </a:spcAft>
              <a:buSzPct val="100000"/>
              <a:buFont typeface="Arial"/>
              <a:buChar char="○"/>
            </a:pPr>
            <a:r>
              <a:rPr lang="en-IN" sz="5674">
                <a:latin typeface="Arial"/>
                <a:ea typeface="Arial"/>
                <a:cs typeface="Arial"/>
                <a:sym typeface="Arial"/>
              </a:rPr>
              <a:t>This work underscores the importance of integrating perspective-awareness in medical NLP tasks, offering better contextualization for users seeking specific types of information.​</a:t>
            </a:r>
            <a:endParaRPr sz="5674">
              <a:latin typeface="Arial"/>
              <a:ea typeface="Arial"/>
              <a:cs typeface="Arial"/>
              <a:sym typeface="Arial"/>
            </a:endParaRPr>
          </a:p>
          <a:p>
            <a:pPr indent="-318688" lvl="0" marL="457200" rtl="0" algn="just">
              <a:lnSpc>
                <a:spcPct val="115000"/>
              </a:lnSpc>
              <a:spcBef>
                <a:spcPts val="0"/>
              </a:spcBef>
              <a:spcAft>
                <a:spcPts val="0"/>
              </a:spcAft>
              <a:buSzPct val="100000"/>
              <a:buFont typeface="Arial"/>
              <a:buChar char="●"/>
            </a:pPr>
            <a:r>
              <a:rPr b="1" lang="en-IN" sz="5674">
                <a:latin typeface="Arial"/>
                <a:ea typeface="Arial"/>
                <a:cs typeface="Arial"/>
                <a:sym typeface="Arial"/>
              </a:rPr>
              <a:t>Future Directions:</a:t>
            </a:r>
            <a:endParaRPr b="1" sz="5674">
              <a:latin typeface="Arial"/>
              <a:ea typeface="Arial"/>
              <a:cs typeface="Arial"/>
              <a:sym typeface="Arial"/>
            </a:endParaRPr>
          </a:p>
          <a:p>
            <a:pPr indent="-246062" lvl="1" marL="914400" rtl="0" algn="just">
              <a:lnSpc>
                <a:spcPct val="115000"/>
              </a:lnSpc>
              <a:spcBef>
                <a:spcPts val="0"/>
              </a:spcBef>
              <a:spcAft>
                <a:spcPts val="0"/>
              </a:spcAft>
              <a:buSzPts val="275"/>
              <a:buFont typeface="Arial"/>
              <a:buChar char="○"/>
            </a:pPr>
            <a:r>
              <a:rPr lang="en-IN" sz="5674">
                <a:latin typeface="Arial"/>
                <a:ea typeface="Arial"/>
                <a:cs typeface="Arial"/>
                <a:sym typeface="Arial"/>
              </a:rPr>
              <a:t>Future enhancements will focus on refining dataset partitions, reducing redundancy, and incorporating human evaluations to better capture subjective </a:t>
            </a:r>
            <a:r>
              <a:rPr lang="en-IN" sz="1100">
                <a:latin typeface="Arial"/>
                <a:ea typeface="Arial"/>
                <a:cs typeface="Arial"/>
                <a:sym typeface="Arial"/>
              </a:rPr>
              <a:t>quality factors.</a:t>
            </a:r>
            <a:endParaRPr sz="1100">
              <a:latin typeface="Arial"/>
              <a:ea typeface="Arial"/>
              <a:cs typeface="Arial"/>
              <a:sym typeface="Arial"/>
            </a:endParaRPr>
          </a:p>
          <a:p>
            <a:pPr indent="0" lvl="0" marL="0" rtl="0" algn="l">
              <a:spcBef>
                <a:spcPts val="1200"/>
              </a:spcBef>
              <a:spcAft>
                <a:spcPts val="0"/>
              </a:spcAft>
              <a:buClr>
                <a:schemeClr val="dk1"/>
              </a:buClr>
              <a:buSzPct val="55000"/>
              <a:buFont typeface="Arial"/>
              <a:buNone/>
            </a:pPr>
            <a:r>
              <a:rPr lang="en-IN" sz="2000"/>
              <a:t>  </a:t>
            </a:r>
            <a:endParaRPr sz="2000"/>
          </a:p>
          <a:p>
            <a:pPr indent="0" lvl="0" marL="0" rtl="0" algn="l">
              <a:spcBef>
                <a:spcPts val="1000"/>
              </a:spcBef>
              <a:spcAft>
                <a:spcPts val="0"/>
              </a:spcAft>
              <a:buClr>
                <a:schemeClr val="dk1"/>
              </a:buClr>
              <a:buSzPct val="55000"/>
              <a:buFont typeface="Arial"/>
              <a:buNone/>
            </a:pPr>
            <a:r>
              <a:t/>
            </a:r>
            <a:endParaRPr sz="2000"/>
          </a:p>
          <a:p>
            <a:pPr indent="0" lvl="0" marL="0" rtl="0" algn="l">
              <a:spcBef>
                <a:spcPts val="1000"/>
              </a:spcBef>
              <a:spcAft>
                <a:spcPts val="0"/>
              </a:spcAft>
              <a:buClr>
                <a:schemeClr val="dk1"/>
              </a:buClr>
              <a:buSzPct val="55000"/>
              <a:buFont typeface="Arial"/>
              <a:buNone/>
            </a:pPr>
            <a:r>
              <a:t/>
            </a:r>
            <a:endParaRPr sz="2000"/>
          </a:p>
          <a:p>
            <a:pPr indent="0" lvl="0" marL="0" rtl="0" algn="l">
              <a:lnSpc>
                <a:spcPct val="90000"/>
              </a:lnSpc>
              <a:spcBef>
                <a:spcPts val="1000"/>
              </a:spcBef>
              <a:spcAft>
                <a:spcPts val="0"/>
              </a:spcAft>
              <a:buSzPct val="90000"/>
              <a:buNone/>
            </a:pPr>
            <a:r>
              <a:t/>
            </a:r>
            <a:endParaRPr sz="2000"/>
          </a:p>
        </p:txBody>
      </p:sp>
      <p:sp>
        <p:nvSpPr>
          <p:cNvPr id="249" name="Google Shape;249;p29"/>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pic>
        <p:nvPicPr>
          <p:cNvPr id="250" name="Google Shape;250;p29" title="Screenshot 2025-04-15 at 10.59.47 PM.png"/>
          <p:cNvPicPr preferRelativeResize="0"/>
          <p:nvPr/>
        </p:nvPicPr>
        <p:blipFill>
          <a:blip r:embed="rId3">
            <a:alphaModFix/>
          </a:blip>
          <a:stretch>
            <a:fillRect/>
          </a:stretch>
        </p:blipFill>
        <p:spPr>
          <a:xfrm>
            <a:off x="7972300" y="2608344"/>
            <a:ext cx="4033649" cy="256423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txBox="1"/>
          <p:nvPr>
            <p:ph type="title"/>
          </p:nvPr>
        </p:nvSpPr>
        <p:spPr>
          <a:xfrm>
            <a:off x="845127" y="365760"/>
            <a:ext cx="9445500" cy="826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t>References</a:t>
            </a:r>
            <a:endParaRPr/>
          </a:p>
        </p:txBody>
      </p:sp>
      <p:sp>
        <p:nvSpPr>
          <p:cNvPr id="256" name="Google Shape;256;p30"/>
          <p:cNvSpPr txBox="1"/>
          <p:nvPr>
            <p:ph idx="1" type="body"/>
          </p:nvPr>
        </p:nvSpPr>
        <p:spPr>
          <a:xfrm>
            <a:off x="477075" y="1347750"/>
            <a:ext cx="11497800" cy="53736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Clr>
                <a:schemeClr val="dk1"/>
              </a:buClr>
              <a:buSzPts val="1100"/>
              <a:buFont typeface="Arial"/>
              <a:buNone/>
            </a:pPr>
            <a:r>
              <a:t/>
            </a:r>
            <a:endParaRPr b="1"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AutoNum type="arabicPeriod"/>
            </a:pPr>
            <a:r>
              <a:rPr lang="en-IN" sz="1100">
                <a:latin typeface="Arial"/>
                <a:ea typeface="Arial"/>
                <a:cs typeface="Arial"/>
                <a:sym typeface="Arial"/>
              </a:rPr>
              <a:t>Md. Shad Akhtar et al., "No perspective, no perception!! Perspective-aware healthcare answer summarization," </a:t>
            </a:r>
            <a:r>
              <a:rPr i="1" lang="en-IN" sz="1100">
                <a:latin typeface="Arial"/>
                <a:ea typeface="Arial"/>
                <a:cs typeface="Arial"/>
                <a:sym typeface="Arial"/>
              </a:rPr>
              <a:t>Findings of the Association for Computational Linguistics: ACL 2024</a:t>
            </a:r>
            <a:r>
              <a:rPr lang="en-IN" sz="1100">
                <a:latin typeface="Arial"/>
                <a:ea typeface="Arial"/>
                <a:cs typeface="Arial"/>
                <a:sym typeface="Arial"/>
              </a:rPr>
              <a:t>, pp. 15919–15932, 2024. [Online]. Available:</a:t>
            </a:r>
            <a:r>
              <a:rPr lang="en-IN" sz="1100">
                <a:uFill>
                  <a:noFill/>
                </a:uFill>
                <a:latin typeface="Arial"/>
                <a:ea typeface="Arial"/>
                <a:cs typeface="Arial"/>
                <a:sym typeface="Arial"/>
                <a:hlinkClick r:id="rId3"/>
              </a:rPr>
              <a:t> </a:t>
            </a:r>
            <a:r>
              <a:rPr lang="en-IN" sz="1100" u="sng">
                <a:solidFill>
                  <a:schemeClr val="hlink"/>
                </a:solidFill>
                <a:latin typeface="Arial"/>
                <a:ea typeface="Arial"/>
                <a:cs typeface="Arial"/>
                <a:sym typeface="Arial"/>
                <a:hlinkClick r:id="rId4"/>
              </a:rPr>
              <a:t>https://aclanthology.org/2024.findings-acl.942.pdf</a:t>
            </a:r>
            <a:br>
              <a:rPr lang="en-IN" sz="1100" u="sng">
                <a:solidFill>
                  <a:schemeClr val="hlink"/>
                </a:solidFill>
                <a:latin typeface="Arial"/>
                <a:ea typeface="Arial"/>
                <a:cs typeface="Arial"/>
                <a:sym typeface="Arial"/>
                <a:hlinkClick r:id="rId5"/>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D. Demner-Fushman and J. Lin, "Answer extraction, semantic clustering, and extractive summarization for clinical question answering," </a:t>
            </a:r>
            <a:r>
              <a:rPr i="1" lang="en-IN" sz="1100">
                <a:latin typeface="Arial"/>
                <a:ea typeface="Arial"/>
                <a:cs typeface="Arial"/>
                <a:sym typeface="Arial"/>
              </a:rPr>
              <a:t>Proceedings of the 21st International Conference on Computational Linguistics and 44th Annual Meeting of the Association for Computational Linguistics</a:t>
            </a:r>
            <a:r>
              <a:rPr lang="en-IN" sz="1100">
                <a:latin typeface="Arial"/>
                <a:ea typeface="Arial"/>
                <a:cs typeface="Arial"/>
                <a:sym typeface="Arial"/>
              </a:rPr>
              <a:t>, pp. 841–848, 2006. [Online]. Available:</a:t>
            </a:r>
            <a:r>
              <a:rPr lang="en-IN" sz="1100">
                <a:uFill>
                  <a:noFill/>
                </a:uFill>
                <a:latin typeface="Arial"/>
                <a:ea typeface="Arial"/>
                <a:cs typeface="Arial"/>
                <a:sym typeface="Arial"/>
                <a:hlinkClick r:id="rId6"/>
              </a:rPr>
              <a:t> </a:t>
            </a:r>
            <a:r>
              <a:rPr lang="en-IN" sz="1100" u="sng">
                <a:solidFill>
                  <a:schemeClr val="hlink"/>
                </a:solidFill>
                <a:latin typeface="Arial"/>
                <a:ea typeface="Arial"/>
                <a:cs typeface="Arial"/>
                <a:sym typeface="Arial"/>
                <a:hlinkClick r:id="rId7"/>
              </a:rPr>
              <a:t>https://aclanthology.org/P06-1106.pdf</a:t>
            </a:r>
            <a:br>
              <a:rPr lang="en-IN" sz="1100" u="sng">
                <a:solidFill>
                  <a:schemeClr val="hlink"/>
                </a:solidFill>
                <a:latin typeface="Arial"/>
                <a:ea typeface="Arial"/>
                <a:cs typeface="Arial"/>
                <a:sym typeface="Arial"/>
                <a:hlinkClick r:id="rId8"/>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Y. Du et al., "Energy-based learning for text-to-image generation," </a:t>
            </a:r>
            <a:r>
              <a:rPr i="1" lang="en-IN" sz="1100">
                <a:latin typeface="Arial"/>
                <a:ea typeface="Arial"/>
                <a:cs typeface="Arial"/>
                <a:sym typeface="Arial"/>
              </a:rPr>
              <a:t>Advances in Neural Information Processing Systems (NeurIPS)</a:t>
            </a:r>
            <a:r>
              <a:rPr lang="en-IN" sz="1100">
                <a:latin typeface="Arial"/>
                <a:ea typeface="Arial"/>
                <a:cs typeface="Arial"/>
                <a:sym typeface="Arial"/>
              </a:rPr>
              <a:t>, vol. 35, pp. 1–14, 2022. [Online]. Available:</a:t>
            </a:r>
            <a:r>
              <a:rPr lang="en-IN" sz="1100">
                <a:uFill>
                  <a:noFill/>
                </a:uFill>
                <a:latin typeface="Arial"/>
                <a:ea typeface="Arial"/>
                <a:cs typeface="Arial"/>
                <a:sym typeface="Arial"/>
                <a:hlinkClick r:id="rId9"/>
              </a:rPr>
              <a:t> </a:t>
            </a:r>
            <a:r>
              <a:rPr lang="en-IN" sz="1100" u="sng">
                <a:solidFill>
                  <a:schemeClr val="hlink"/>
                </a:solidFill>
                <a:latin typeface="Arial"/>
                <a:ea typeface="Arial"/>
                <a:cs typeface="Arial"/>
                <a:sym typeface="Arial"/>
                <a:hlinkClick r:id="rId10"/>
              </a:rPr>
              <a:t>https://arxiv.org/abs/2206.01714</a:t>
            </a:r>
            <a:br>
              <a:rPr lang="en-IN" sz="1100" u="sng">
                <a:solidFill>
                  <a:schemeClr val="hlink"/>
                </a:solidFill>
                <a:latin typeface="Arial"/>
                <a:ea typeface="Arial"/>
                <a:cs typeface="Arial"/>
                <a:sym typeface="Arial"/>
                <a:hlinkClick r:id="rId11"/>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E. J. Hu et al., "LoRA: Low-rank adaptation of large language models," </a:t>
            </a:r>
            <a:r>
              <a:rPr i="1" lang="en-IN" sz="1100">
                <a:latin typeface="Arial"/>
                <a:ea typeface="Arial"/>
                <a:cs typeface="Arial"/>
                <a:sym typeface="Arial"/>
              </a:rPr>
              <a:t>International Conference on Learning Representations (ICLR)</a:t>
            </a:r>
            <a:r>
              <a:rPr lang="en-IN" sz="1100">
                <a:latin typeface="Arial"/>
                <a:ea typeface="Arial"/>
                <a:cs typeface="Arial"/>
                <a:sym typeface="Arial"/>
              </a:rPr>
              <a:t>, 2021. [Online]. Available:</a:t>
            </a:r>
            <a:r>
              <a:rPr lang="en-IN" sz="1100">
                <a:uFill>
                  <a:noFill/>
                </a:uFill>
                <a:latin typeface="Arial"/>
                <a:ea typeface="Arial"/>
                <a:cs typeface="Arial"/>
                <a:sym typeface="Arial"/>
                <a:hlinkClick r:id="rId12"/>
              </a:rPr>
              <a:t> </a:t>
            </a:r>
            <a:r>
              <a:rPr lang="en-IN" sz="1100" u="sng">
                <a:solidFill>
                  <a:schemeClr val="hlink"/>
                </a:solidFill>
                <a:latin typeface="Arial"/>
                <a:ea typeface="Arial"/>
                <a:cs typeface="Arial"/>
                <a:sym typeface="Arial"/>
                <a:hlinkClick r:id="rId13"/>
              </a:rPr>
              <a:t>https://arxiv.org/abs/2106.09685</a:t>
            </a:r>
            <a:br>
              <a:rPr lang="en-IN" sz="1100" u="sng">
                <a:solidFill>
                  <a:schemeClr val="hlink"/>
                </a:solidFill>
                <a:latin typeface="Arial"/>
                <a:ea typeface="Arial"/>
                <a:cs typeface="Arial"/>
                <a:sym typeface="Arial"/>
                <a:hlinkClick r:id="rId14"/>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X. L. Li and P. Liang, "Prefix-tuning: Optimizing continuous prompts for generation," </a:t>
            </a:r>
            <a:r>
              <a:rPr i="1" lang="en-IN" sz="1100">
                <a:latin typeface="Arial"/>
                <a:ea typeface="Arial"/>
                <a:cs typeface="Arial"/>
                <a:sym typeface="Arial"/>
              </a:rPr>
              <a:t>Proceedings of the 59th Annual Meeting of the Association for Computational Linguistics and the 11th International Joint Conference on Natural Language Processing (Volume 1: Long Papers)</a:t>
            </a:r>
            <a:r>
              <a:rPr lang="en-IN" sz="1100">
                <a:latin typeface="Arial"/>
                <a:ea typeface="Arial"/>
                <a:cs typeface="Arial"/>
                <a:sym typeface="Arial"/>
              </a:rPr>
              <a:t>, pp. 4582–4597, 2021. [Online]. Available:</a:t>
            </a:r>
            <a:r>
              <a:rPr lang="en-IN" sz="1100">
                <a:uFill>
                  <a:noFill/>
                </a:uFill>
                <a:latin typeface="Arial"/>
                <a:ea typeface="Arial"/>
                <a:cs typeface="Arial"/>
                <a:sym typeface="Arial"/>
                <a:hlinkClick r:id="rId15"/>
              </a:rPr>
              <a:t> </a:t>
            </a:r>
            <a:r>
              <a:rPr lang="en-IN" sz="1100" u="sng">
                <a:solidFill>
                  <a:schemeClr val="hlink"/>
                </a:solidFill>
                <a:latin typeface="Arial"/>
                <a:ea typeface="Arial"/>
                <a:cs typeface="Arial"/>
                <a:sym typeface="Arial"/>
                <a:hlinkClick r:id="rId16"/>
              </a:rPr>
              <a:t>https://arxiv.org/abs/2101.00190</a:t>
            </a:r>
            <a:br>
              <a:rPr lang="en-IN" sz="1100" u="sng">
                <a:solidFill>
                  <a:schemeClr val="hlink"/>
                </a:solidFill>
                <a:latin typeface="Arial"/>
                <a:ea typeface="Arial"/>
                <a:cs typeface="Arial"/>
                <a:sym typeface="Arial"/>
                <a:hlinkClick r:id="rId17"/>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C. Raffel et al., "Exploring the limits of transfer learning with a unified text-to-text transformer," </a:t>
            </a:r>
            <a:r>
              <a:rPr i="1" lang="en-IN" sz="1100">
                <a:latin typeface="Arial"/>
                <a:ea typeface="Arial"/>
                <a:cs typeface="Arial"/>
                <a:sym typeface="Arial"/>
              </a:rPr>
              <a:t>Journal of Machine Learning Research (JMLR)</a:t>
            </a:r>
            <a:r>
              <a:rPr lang="en-IN" sz="1100">
                <a:latin typeface="Arial"/>
                <a:ea typeface="Arial"/>
                <a:cs typeface="Arial"/>
                <a:sym typeface="Arial"/>
              </a:rPr>
              <a:t>, vol. 21, no. 140, pp. 1–67, 2020. [Online]. Available:</a:t>
            </a:r>
            <a:r>
              <a:rPr lang="en-IN" sz="1100">
                <a:uFill>
                  <a:noFill/>
                </a:uFill>
                <a:latin typeface="Arial"/>
                <a:ea typeface="Arial"/>
                <a:cs typeface="Arial"/>
                <a:sym typeface="Arial"/>
                <a:hlinkClick r:id="rId18"/>
              </a:rPr>
              <a:t> </a:t>
            </a:r>
            <a:r>
              <a:rPr lang="en-IN" sz="1100" u="sng">
                <a:solidFill>
                  <a:schemeClr val="hlink"/>
                </a:solidFill>
                <a:latin typeface="Arial"/>
                <a:ea typeface="Arial"/>
                <a:cs typeface="Arial"/>
                <a:sym typeface="Arial"/>
                <a:hlinkClick r:id="rId19"/>
              </a:rPr>
              <a:t>https://arxiv.org/abs/1910.10683</a:t>
            </a:r>
            <a:br>
              <a:rPr lang="en-IN" sz="1100" u="sng">
                <a:solidFill>
                  <a:schemeClr val="hlink"/>
                </a:solidFill>
                <a:latin typeface="Arial"/>
                <a:ea typeface="Arial"/>
                <a:cs typeface="Arial"/>
                <a:sym typeface="Arial"/>
                <a:hlinkClick r:id="rId20"/>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H. Rashkin et al., "Truth of varying shades: Analyzing language in fake news and political fact-checking," </a:t>
            </a:r>
            <a:r>
              <a:rPr i="1" lang="en-IN" sz="1100">
                <a:latin typeface="Arial"/>
                <a:ea typeface="Arial"/>
                <a:cs typeface="Arial"/>
                <a:sym typeface="Arial"/>
              </a:rPr>
              <a:t>Proceedings of the 2017 Conference on Empirical Methods in Natural Language Processing</a:t>
            </a:r>
            <a:r>
              <a:rPr lang="en-IN" sz="1100">
                <a:latin typeface="Arial"/>
                <a:ea typeface="Arial"/>
                <a:cs typeface="Arial"/>
                <a:sym typeface="Arial"/>
              </a:rPr>
              <a:t>, pp. 2931–2937, 2017. [Online]. Available:</a:t>
            </a:r>
            <a:r>
              <a:rPr lang="en-IN" sz="1100">
                <a:uFill>
                  <a:noFill/>
                </a:uFill>
                <a:latin typeface="Arial"/>
                <a:ea typeface="Arial"/>
                <a:cs typeface="Arial"/>
                <a:sym typeface="Arial"/>
                <a:hlinkClick r:id="rId21"/>
              </a:rPr>
              <a:t> </a:t>
            </a:r>
            <a:r>
              <a:rPr lang="en-IN" sz="1100" u="sng">
                <a:solidFill>
                  <a:schemeClr val="hlink"/>
                </a:solidFill>
                <a:latin typeface="Arial"/>
                <a:ea typeface="Arial"/>
                <a:cs typeface="Arial"/>
                <a:sym typeface="Arial"/>
                <a:hlinkClick r:id="rId22"/>
              </a:rPr>
              <a:t>https://aclanthology.org/D17-1317.pdf</a:t>
            </a:r>
            <a:br>
              <a:rPr lang="en-IN" sz="1100" u="sng">
                <a:solidFill>
                  <a:schemeClr val="hlink"/>
                </a:solidFill>
                <a:latin typeface="Arial"/>
                <a:ea typeface="Arial"/>
                <a:cs typeface="Arial"/>
                <a:sym typeface="Arial"/>
                <a:hlinkClick r:id="rId23"/>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H. Touvron et al., "LLaMA: Open and efficient foundation language models," </a:t>
            </a:r>
            <a:r>
              <a:rPr i="1" lang="en-IN" sz="1100">
                <a:latin typeface="Arial"/>
                <a:ea typeface="Arial"/>
                <a:cs typeface="Arial"/>
                <a:sym typeface="Arial"/>
              </a:rPr>
              <a:t>arXiv preprint arXiv:2302.13971</a:t>
            </a:r>
            <a:r>
              <a:rPr lang="en-IN" sz="1100">
                <a:latin typeface="Arial"/>
                <a:ea typeface="Arial"/>
                <a:cs typeface="Arial"/>
                <a:sym typeface="Arial"/>
              </a:rPr>
              <a:t>, 2023. [Online]. Available:</a:t>
            </a:r>
            <a:r>
              <a:rPr lang="en-IN" sz="1100">
                <a:uFill>
                  <a:noFill/>
                </a:uFill>
                <a:latin typeface="Arial"/>
                <a:ea typeface="Arial"/>
                <a:cs typeface="Arial"/>
                <a:sym typeface="Arial"/>
                <a:hlinkClick r:id="rId24"/>
              </a:rPr>
              <a:t> </a:t>
            </a:r>
            <a:r>
              <a:rPr lang="en-IN" sz="1100" u="sng">
                <a:solidFill>
                  <a:schemeClr val="hlink"/>
                </a:solidFill>
                <a:latin typeface="Arial"/>
                <a:ea typeface="Arial"/>
                <a:cs typeface="Arial"/>
                <a:sym typeface="Arial"/>
                <a:hlinkClick r:id="rId25"/>
              </a:rPr>
              <a:t>https://arxiv.org/abs/2302.13971</a:t>
            </a:r>
            <a:br>
              <a:rPr lang="en-IN" sz="1100" u="sng">
                <a:solidFill>
                  <a:schemeClr val="hlink"/>
                </a:solidFill>
                <a:latin typeface="Arial"/>
                <a:ea typeface="Arial"/>
                <a:cs typeface="Arial"/>
                <a:sym typeface="Arial"/>
                <a:hlinkClick r:id="rId26"/>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T. Zhang et al., "A contrastive framework for neural text generation," </a:t>
            </a:r>
            <a:r>
              <a:rPr i="1" lang="en-IN" sz="1100">
                <a:latin typeface="Arial"/>
                <a:ea typeface="Arial"/>
                <a:cs typeface="Arial"/>
                <a:sym typeface="Arial"/>
              </a:rPr>
              <a:t>Proceedings of the 2022 Conference on Neural Information Processing Systems (NeurIPS)</a:t>
            </a:r>
            <a:r>
              <a:rPr lang="en-IN" sz="1100">
                <a:latin typeface="Arial"/>
                <a:ea typeface="Arial"/>
                <a:cs typeface="Arial"/>
                <a:sym typeface="Arial"/>
              </a:rPr>
              <a:t>, 2022. [Online]. Available:</a:t>
            </a:r>
            <a:r>
              <a:rPr lang="en-IN" sz="1100">
                <a:uFill>
                  <a:noFill/>
                </a:uFill>
                <a:latin typeface="Arial"/>
                <a:ea typeface="Arial"/>
                <a:cs typeface="Arial"/>
                <a:sym typeface="Arial"/>
                <a:hlinkClick r:id="rId27"/>
              </a:rPr>
              <a:t> </a:t>
            </a:r>
            <a:r>
              <a:rPr lang="en-IN" sz="1100" u="sng">
                <a:solidFill>
                  <a:schemeClr val="hlink"/>
                </a:solidFill>
                <a:latin typeface="Arial"/>
                <a:ea typeface="Arial"/>
                <a:cs typeface="Arial"/>
                <a:sym typeface="Arial"/>
                <a:hlinkClick r:id="rId28"/>
              </a:rPr>
              <a:t>https://arxiv.org/abs/2202.06417</a:t>
            </a:r>
            <a:br>
              <a:rPr lang="en-IN" sz="1100" u="sng">
                <a:solidFill>
                  <a:schemeClr val="hlink"/>
                </a:solidFill>
                <a:latin typeface="Arial"/>
                <a:ea typeface="Arial"/>
                <a:cs typeface="Arial"/>
                <a:sym typeface="Arial"/>
                <a:hlinkClick r:id="rId29"/>
              </a:rPr>
            </a:br>
            <a:endParaRPr sz="1100" u="sng">
              <a:solidFill>
                <a:schemeClr val="hlink"/>
              </a:solidFill>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n-IN" sz="1100">
                <a:latin typeface="Arial"/>
                <a:ea typeface="Arial"/>
                <a:cs typeface="Arial"/>
                <a:sym typeface="Arial"/>
              </a:rPr>
              <a:t>Y. Zhang et al., "Optimizing the factual correctness of a summary: A study of summarizing radiology reports," </a:t>
            </a:r>
            <a:r>
              <a:rPr i="1" lang="en-IN" sz="1100">
                <a:latin typeface="Arial"/>
                <a:ea typeface="Arial"/>
                <a:cs typeface="Arial"/>
                <a:sym typeface="Arial"/>
              </a:rPr>
              <a:t>Proceedings of the 58th Annual Meeting of the Association for Computational Linguistics</a:t>
            </a:r>
            <a:r>
              <a:rPr lang="en-IN" sz="1100">
                <a:latin typeface="Arial"/>
                <a:ea typeface="Arial"/>
                <a:cs typeface="Arial"/>
                <a:sym typeface="Arial"/>
              </a:rPr>
              <a:t>, pp. 5108–5120, 2020. [Online]. Available:</a:t>
            </a:r>
            <a:r>
              <a:rPr lang="en-IN" sz="1100">
                <a:uFill>
                  <a:noFill/>
                </a:uFill>
                <a:latin typeface="Arial"/>
                <a:ea typeface="Arial"/>
                <a:cs typeface="Arial"/>
                <a:sym typeface="Arial"/>
                <a:hlinkClick r:id="rId30"/>
              </a:rPr>
              <a:t> </a:t>
            </a:r>
            <a:r>
              <a:rPr lang="en-IN" sz="1100" u="sng">
                <a:solidFill>
                  <a:schemeClr val="hlink"/>
                </a:solidFill>
                <a:latin typeface="Arial"/>
                <a:ea typeface="Arial"/>
                <a:cs typeface="Arial"/>
                <a:sym typeface="Arial"/>
                <a:hlinkClick r:id="rId31"/>
              </a:rPr>
              <a:t>https://aclanthology.org/2020.acl-main.458/</a:t>
            </a:r>
            <a:endParaRPr/>
          </a:p>
        </p:txBody>
      </p:sp>
      <p:sp>
        <p:nvSpPr>
          <p:cNvPr id="257" name="Google Shape;257;p30"/>
          <p:cNvSpPr txBox="1"/>
          <p:nvPr>
            <p:ph idx="12" type="sldNum"/>
          </p:nvPr>
        </p:nvSpPr>
        <p:spPr>
          <a:xfrm>
            <a:off x="8617527"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ph type="title"/>
          </p:nvPr>
        </p:nvSpPr>
        <p:spPr>
          <a:xfrm>
            <a:off x="4350900" y="2620500"/>
            <a:ext cx="3490200" cy="161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900"/>
              <a:buNone/>
            </a:pPr>
            <a:r>
              <a:rPr lang="en-IN" sz="5000"/>
              <a:t>Thank You</a:t>
            </a:r>
            <a:endParaRPr sz="5000"/>
          </a:p>
        </p:txBody>
      </p:sp>
      <p:sp>
        <p:nvSpPr>
          <p:cNvPr id="263" name="Google Shape;263;p31"/>
          <p:cNvSpPr txBox="1"/>
          <p:nvPr>
            <p:ph idx="12" type="sldNum"/>
          </p:nvPr>
        </p:nvSpPr>
        <p:spPr>
          <a:xfrm>
            <a:off x="8617527"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